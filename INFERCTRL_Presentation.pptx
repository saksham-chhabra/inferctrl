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4" d="100"/>
          <a:sy n="64" d="100"/>
        </p:scale>
        <p:origin x="688" y="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502920"/>
            <a:ext cx="7315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600" b="1" i="0">
                <a:solidFill>
                  <a:srgbClr val="FFFFFF"/>
                </a:solidFill>
              </a:rPr>
              <a:t>INFERCTRL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1417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38BDF8"/>
                </a:solidFill>
              </a:rPr>
              <a:t>Autonomous LLM Inference Optimization Platform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2057400"/>
            <a:ext cx="8686800" cy="1905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20040" y="2240280"/>
            <a:ext cx="8686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94A3B8"/>
                </a:solidFill>
              </a:rPr>
              <a:t>A self-optimizing inference layer that continuously observes, benchmarks,
evaluates, and routes LLM traffic — reducing latency and cost without
sacrificing answer quality.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3520440"/>
            <a:ext cx="2560320" cy="1234440"/>
          </a:xfrm>
          <a:prstGeom prst="rect">
            <a:avLst/>
          </a:prstGeom>
          <a:solidFill>
            <a:srgbClr val="131928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3584448"/>
            <a:ext cx="2286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38BDF8"/>
                </a:solidFill>
              </a:rPr>
              <a:t>-54%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20624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4A3B8"/>
                </a:solidFill>
              </a:rPr>
              <a:t>P95 Latency</a:t>
            </a:r>
          </a:p>
        </p:txBody>
      </p:sp>
      <p:sp>
        <p:nvSpPr>
          <p:cNvPr id="10" name="Rectangle 9"/>
          <p:cNvSpPr/>
          <p:nvPr/>
        </p:nvSpPr>
        <p:spPr>
          <a:xfrm>
            <a:off x="3044952" y="3520440"/>
            <a:ext cx="2560320" cy="1234440"/>
          </a:xfrm>
          <a:prstGeom prst="rect">
            <a:avLst/>
          </a:prstGeom>
          <a:solidFill>
            <a:srgbClr val="131928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182112" y="3584448"/>
            <a:ext cx="2286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34D399"/>
                </a:solidFill>
              </a:rPr>
              <a:t>-37%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82112" y="420624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4A3B8"/>
                </a:solidFill>
              </a:rPr>
              <a:t>Cost / 1K tokens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69864" y="3520440"/>
            <a:ext cx="2560320" cy="1234440"/>
          </a:xfrm>
          <a:prstGeom prst="rect">
            <a:avLst/>
          </a:prstGeom>
          <a:solidFill>
            <a:srgbClr val="131928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907024" y="3584448"/>
            <a:ext cx="2286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BBF24"/>
                </a:solidFill>
              </a:rPr>
              <a:t>+28%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07024" y="420624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4A3B8"/>
                </a:solidFill>
              </a:rPr>
              <a:t>Throughput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494776" y="3520440"/>
            <a:ext cx="2560320" cy="1234440"/>
          </a:xfrm>
          <a:prstGeom prst="rect">
            <a:avLst/>
          </a:prstGeom>
          <a:solidFill>
            <a:srgbClr val="131928"/>
          </a:solidFill>
          <a:ln w="1905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631936" y="3584448"/>
            <a:ext cx="2286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87171"/>
                </a:solidFill>
              </a:rPr>
              <a:t>&lt;350ms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31936" y="420624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4A3B8"/>
                </a:solidFill>
              </a:rPr>
              <a:t>Auto-Rollback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" y="630936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E2944"/>
                </a:solidFill>
              </a:rPr>
              <a:t>github.com/inferctrl  ·  FastAPI · Python 3.12 · Multi-Agent · OpenAI-compatible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418320" y="274320"/>
            <a:ext cx="2468880" cy="292608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464040" y="301751"/>
            <a:ext cx="23774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B0F17"/>
                </a:solidFill>
              </a:rPr>
              <a:t>FastAPI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418320" y="685800"/>
            <a:ext cx="2468880" cy="292608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464040" y="713232"/>
            <a:ext cx="23774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B0F17"/>
                </a:solidFill>
              </a:rPr>
              <a:t>Multi-Agent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418320" y="1097280"/>
            <a:ext cx="2468880" cy="292608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464040" y="1124712"/>
            <a:ext cx="23774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B0F17"/>
                </a:solidFill>
              </a:rPr>
              <a:t>OpenAI-compat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164592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The LLM Inference Trilemma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4980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94A3B8"/>
                </a:solidFill>
              </a:rPr>
              <a:t>Every production team faces the same impossible trade-off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170432"/>
            <a:ext cx="11430000" cy="9525"/>
          </a:xfrm>
          <a:prstGeom prst="rect">
            <a:avLst/>
          </a:prstGeom>
          <a:solidFill>
            <a:srgbClr val="1E29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365760" y="1371600"/>
            <a:ext cx="3566160" cy="3749039"/>
          </a:xfrm>
          <a:prstGeom prst="rect">
            <a:avLst/>
          </a:prstGeom>
          <a:solidFill>
            <a:srgbClr val="131928"/>
          </a:solidFill>
          <a:ln w="2286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30352" y="1508760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38BDF8"/>
                </a:solidFill>
              </a:rPr>
              <a:t>⏱  Latency Spikes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30352" y="2057400"/>
            <a:ext cx="3236976" cy="635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30352" y="2176272"/>
            <a:ext cx="32918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4A3B8"/>
                </a:solidFill>
              </a:rPr>
              <a:t>P95 latency balloons 3–5× during traffic bursts.
Static autoscalers are blind to prompt length,
queue depth, and decode complexity.
Users abandon sessions.  SLAs are violated.</a:t>
            </a:r>
          </a:p>
        </p:txBody>
      </p:sp>
      <p:sp>
        <p:nvSpPr>
          <p:cNvPr id="9" name="Rectangle 8"/>
          <p:cNvSpPr/>
          <p:nvPr/>
        </p:nvSpPr>
        <p:spPr>
          <a:xfrm>
            <a:off x="4187952" y="1371600"/>
            <a:ext cx="3566160" cy="3749039"/>
          </a:xfrm>
          <a:prstGeom prst="rect">
            <a:avLst/>
          </a:prstGeom>
          <a:solidFill>
            <a:srgbClr val="131928"/>
          </a:solidFill>
          <a:ln w="2286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352544" y="1508760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BBF24"/>
                </a:solidFill>
              </a:rPr>
              <a:t>💸  Runaway Costs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52544" y="2057400"/>
            <a:ext cx="3236976" cy="635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352544" y="2176272"/>
            <a:ext cx="32918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4A3B8"/>
                </a:solidFill>
              </a:rPr>
              <a:t>GPT-4-class models billed for every request,
even trivial ones a 7B local model could answer.
No differentiation between a 10-token greeting
and a 4K-token code-review task.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10144" y="1371600"/>
            <a:ext cx="3566160" cy="3749039"/>
          </a:xfrm>
          <a:prstGeom prst="rect">
            <a:avLst/>
          </a:prstGeom>
          <a:solidFill>
            <a:srgbClr val="131928"/>
          </a:solidFill>
          <a:ln w="2286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174736" y="1508760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87171"/>
                </a:solidFill>
              </a:rPr>
              <a:t>📉  Silent Quality Drift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74736" y="2057400"/>
            <a:ext cx="3236976" cy="635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174736" y="2176272"/>
            <a:ext cx="32918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4A3B8"/>
                </a:solidFill>
              </a:rPr>
              <a:t>Model updates, prompt regressions, or hardware
failures silently degrade answer quality.
There is no feedback loop.  No canary.  No rollback.
Teams discover regressions from user complaints.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5257800"/>
            <a:ext cx="11430000" cy="868680"/>
          </a:xfrm>
          <a:prstGeom prst="rect">
            <a:avLst/>
          </a:prstGeom>
          <a:solidFill>
            <a:srgbClr val="1A1008"/>
          </a:solidFill>
          <a:ln w="1524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94360" y="5349240"/>
            <a:ext cx="11064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FBBF24"/>
                </a:solidFill>
              </a:rPr>
              <a:t>"We spent 40% of our ML budget on inference and had no idea which requests were expensive or whether the model was actually helping users."  — Common engineering post-mortem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164592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Introducing INFERCTRL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13232"/>
            <a:ext cx="1170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4A3B8"/>
                </a:solidFill>
              </a:rPr>
              <a:t>A closed-loop feedback system — Observe → Benchmark → Evaluate → Optimize → Verify → Roll Back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11430000" cy="9525"/>
          </a:xfrm>
          <a:prstGeom prst="rect">
            <a:avLst/>
          </a:prstGeom>
          <a:solidFill>
            <a:srgbClr val="1E29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320040" y="1298448"/>
            <a:ext cx="2084831" cy="2377440"/>
          </a:xfrm>
          <a:prstGeom prst="rect">
            <a:avLst/>
          </a:prstGeom>
          <a:solidFill>
            <a:srgbClr val="131928"/>
          </a:solidFill>
          <a:ln w="2286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29768" y="1417320"/>
            <a:ext cx="1901951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8BDF8"/>
                </a:solidFill>
              </a:rPr>
              <a:t>1  OBSERVE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768" y="1874519"/>
            <a:ext cx="1865376" cy="635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29768" y="1993392"/>
            <a:ext cx="1901951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</a:rPr>
              <a:t>Capture every request:
latency, tokens, cost,
quality, provider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14015" y="2240280"/>
            <a:ext cx="12801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38BDF8"/>
                </a:solidFill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14600" y="1298448"/>
            <a:ext cx="2084831" cy="2377440"/>
          </a:xfrm>
          <a:prstGeom prst="rect">
            <a:avLst/>
          </a:prstGeom>
          <a:solidFill>
            <a:srgbClr val="131928"/>
          </a:solidFill>
          <a:ln w="2286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624328" y="1417320"/>
            <a:ext cx="1901951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4D399"/>
                </a:solidFill>
              </a:rPr>
              <a:t>2  BENCHMARK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24328" y="1874519"/>
            <a:ext cx="1865376" cy="635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624328" y="1993392"/>
            <a:ext cx="1901951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</a:rPr>
              <a:t>Run controlled A/B tests
across providers and
batch strategies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08575" y="2240280"/>
            <a:ext cx="12801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34D399"/>
                </a:solidFill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09159" y="1298448"/>
            <a:ext cx="2084831" cy="2377440"/>
          </a:xfrm>
          <a:prstGeom prst="rect">
            <a:avLst/>
          </a:prstGeom>
          <a:solidFill>
            <a:srgbClr val="131928"/>
          </a:solidFill>
          <a:ln w="2286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818888" y="1417320"/>
            <a:ext cx="1901951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BBF24"/>
                </a:solidFill>
              </a:rPr>
              <a:t>3  EVALUATE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818888" y="1874519"/>
            <a:ext cx="1865376" cy="635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818888" y="1993392"/>
            <a:ext cx="1901951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</a:rPr>
              <a:t>Score output quality.
Detect regressions.
Compute Pareto frontier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03136" y="2240280"/>
            <a:ext cx="12801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BBF24"/>
                </a:solidFill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903719" y="1298448"/>
            <a:ext cx="2084831" cy="2377440"/>
          </a:xfrm>
          <a:prstGeom prst="rect">
            <a:avLst/>
          </a:prstGeom>
          <a:solidFill>
            <a:srgbClr val="131928"/>
          </a:solidFill>
          <a:ln w="22860"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013447" y="1417320"/>
            <a:ext cx="1901951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084FC"/>
                </a:solidFill>
              </a:rPr>
              <a:t>4  OPTIMIZE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013447" y="1874519"/>
            <a:ext cx="1865376" cy="6350"/>
          </a:xfrm>
          <a:prstGeom prst="rect">
            <a:avLst/>
          </a:prstGeom>
          <a:solidFill>
            <a:srgbClr val="C08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013447" y="1993392"/>
            <a:ext cx="1901951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</a:rPr>
              <a:t>Select best config.
Canary rollout at 5%.
Monitor watchdog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97695" y="2240280"/>
            <a:ext cx="12801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C084FC"/>
                </a:solidFill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98280" y="1298448"/>
            <a:ext cx="2084831" cy="2377440"/>
          </a:xfrm>
          <a:prstGeom prst="rect">
            <a:avLst/>
          </a:prstGeom>
          <a:solidFill>
            <a:srgbClr val="131928"/>
          </a:solidFill>
          <a:ln w="2286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208007" y="1417320"/>
            <a:ext cx="1901951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87171"/>
                </a:solidFill>
              </a:rPr>
              <a:t>5  VERIFY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208007" y="1874519"/>
            <a:ext cx="1865376" cy="635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208007" y="1993392"/>
            <a:ext cx="1901951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</a:rPr>
              <a:t>Confirm SLA met.
Apply globally or
auto-roll back &lt;350 ms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" y="3886200"/>
            <a:ext cx="2697480" cy="1828800"/>
          </a:xfrm>
          <a:prstGeom prst="rect">
            <a:avLst/>
          </a:prstGeom>
          <a:solidFill>
            <a:srgbClr val="131928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48056" y="3977639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8BDF8"/>
                </a:solidFill>
              </a:rPr>
              <a:t>OpenAI-Compatible Gateway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" y="4407408"/>
            <a:ext cx="24688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94A3B8"/>
                </a:solidFill>
              </a:rPr>
              <a:t>Drop-in replacement for the OpenAI client.
Zero code changes in existing apps.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182112" y="3886200"/>
            <a:ext cx="2697480" cy="1828800"/>
          </a:xfrm>
          <a:prstGeom prst="rect">
            <a:avLst/>
          </a:prstGeom>
          <a:solidFill>
            <a:srgbClr val="131928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3310128" y="3977639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4D399"/>
                </a:solidFill>
              </a:rPr>
              <a:t>5-Agent Autonomous Engine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310128" y="4407408"/>
            <a:ext cx="24688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94A3B8"/>
                </a:solidFill>
              </a:rPr>
              <a:t>Workload Analyst → Scheduler → Benchmarker
→ Quality Evaluator → Controller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044184" y="3886200"/>
            <a:ext cx="2697480" cy="1828800"/>
          </a:xfrm>
          <a:prstGeom prst="rect">
            <a:avLst/>
          </a:prstGeom>
          <a:solidFill>
            <a:srgbClr val="131928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172200" y="3977639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BBF24"/>
                </a:solidFill>
              </a:rPr>
              <a:t>Deterministic Policy Guardrails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72200" y="4407408"/>
            <a:ext cx="24688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94A3B8"/>
                </a:solidFill>
              </a:rPr>
              <a:t>Hard constraints on latency, cost, quality.
LLMs propose; policy enforces.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906256" y="3886200"/>
            <a:ext cx="2697480" cy="1828800"/>
          </a:xfrm>
          <a:prstGeom prst="rect">
            <a:avLst/>
          </a:prstGeom>
          <a:solidFill>
            <a:srgbClr val="131928"/>
          </a:solidFill>
          <a:ln w="1905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9034272" y="3977639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87171"/>
                </a:solidFill>
              </a:rPr>
              <a:t>Canary Rollout + Auto-Rollback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034272" y="4407408"/>
            <a:ext cx="24688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94A3B8"/>
                </a:solidFill>
              </a:rPr>
              <a:t>5% canary traffic. Watchdog on P95 + errors.
Global apply or instant rollback.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164592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5-Agent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1323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4A3B8"/>
                </a:solidFill>
              </a:rPr>
              <a:t>Each agent owns a specific responsibility. The Controller coordinates them all.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115568"/>
            <a:ext cx="11430000" cy="9525"/>
          </a:xfrm>
          <a:prstGeom prst="rect">
            <a:avLst/>
          </a:prstGeom>
          <a:solidFill>
            <a:srgbClr val="1E29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320040" y="1298448"/>
            <a:ext cx="2084831" cy="3383280"/>
          </a:xfrm>
          <a:prstGeom prst="rect">
            <a:avLst/>
          </a:prstGeom>
          <a:solidFill>
            <a:srgbClr val="131928"/>
          </a:solidFill>
          <a:ln w="2286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29768" y="1426464"/>
            <a:ext cx="438912" cy="27432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75488" y="1453896"/>
            <a:ext cx="347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B0F17"/>
                </a:solidFill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" y="1408176"/>
            <a:ext cx="1353311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8BDF8"/>
                </a:solidFill>
              </a:rPr>
              <a:t>Workload
Analyst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768" y="1938528"/>
            <a:ext cx="1865376" cy="635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29768" y="2048256"/>
            <a:ext cx="1901951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</a:rPr>
              <a:t>• Classifies prompt complexity
  (trivial / medium / complex)
• Estimates resource demand
• Detects traffic regime
  (idle / bursty / sustained)
• Outputs WorkloadReport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14600" y="1298448"/>
            <a:ext cx="2084831" cy="3383280"/>
          </a:xfrm>
          <a:prstGeom prst="rect">
            <a:avLst/>
          </a:prstGeom>
          <a:solidFill>
            <a:srgbClr val="131928"/>
          </a:solidFill>
          <a:ln w="2286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2624328" y="1426464"/>
            <a:ext cx="438912" cy="27432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670048" y="1453896"/>
            <a:ext cx="347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B0F17"/>
                </a:solidFill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36392" y="1408176"/>
            <a:ext cx="1353311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4D399"/>
                </a:solidFill>
              </a:rPr>
              <a:t>Benchmark
Agent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624328" y="1938528"/>
            <a:ext cx="1865376" cy="635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624328" y="2048256"/>
            <a:ext cx="1901951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</a:rPr>
              <a:t>• Selects candidate configs
• Runs controlled A/B tests
• Measures latency P50/P95,
  throughput, GPU utilisation
• Feeds results to Controller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09159" y="1298448"/>
            <a:ext cx="2084831" cy="3383280"/>
          </a:xfrm>
          <a:prstGeom prst="rect">
            <a:avLst/>
          </a:prstGeom>
          <a:solidFill>
            <a:srgbClr val="131928"/>
          </a:solidFill>
          <a:ln w="2286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818888" y="1426464"/>
            <a:ext cx="438912" cy="27432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864607" y="1453896"/>
            <a:ext cx="347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B0F17"/>
                </a:solidFill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30951" y="1408176"/>
            <a:ext cx="1353311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BBF24"/>
                </a:solidFill>
              </a:rPr>
              <a:t>Quality
Evaluator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18888" y="1938528"/>
            <a:ext cx="1865376" cy="635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818888" y="2048256"/>
            <a:ext cx="1901951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</a:rPr>
              <a:t>• Scores LLM outputs via
  LLM-as-judge / reference eval
• Domain-specific metrics
  (code correctness, factuality)
• Triggers rollback if quality
  falls below threshold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903719" y="1298448"/>
            <a:ext cx="2084831" cy="3383280"/>
          </a:xfrm>
          <a:prstGeom prst="rect">
            <a:avLst/>
          </a:prstGeom>
          <a:solidFill>
            <a:srgbClr val="131928"/>
          </a:solidFill>
          <a:ln w="22860"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7013447" y="1426464"/>
            <a:ext cx="438912" cy="274320"/>
          </a:xfrm>
          <a:prstGeom prst="rect">
            <a:avLst/>
          </a:prstGeom>
          <a:solidFill>
            <a:srgbClr val="C08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059167" y="1453896"/>
            <a:ext cx="347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B0F17"/>
                </a:solidFill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25511" y="1408176"/>
            <a:ext cx="1353311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084FC"/>
                </a:solidFill>
              </a:rPr>
              <a:t>Scheduler
Agent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013447" y="1938528"/>
            <a:ext cx="1865376" cy="6350"/>
          </a:xfrm>
          <a:prstGeom prst="rect">
            <a:avLst/>
          </a:prstGeom>
          <a:solidFill>
            <a:srgbClr val="C08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013447" y="2048256"/>
            <a:ext cx="1901951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</a:rPr>
              <a:t>• Adjusts real-time serving
  parameters per controller
• Dynamic batching settings
• Concurrency limits per model
• GPU resource allocation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98280" y="1298448"/>
            <a:ext cx="2084831" cy="3383280"/>
          </a:xfrm>
          <a:prstGeom prst="rect">
            <a:avLst/>
          </a:prstGeom>
          <a:solidFill>
            <a:srgbClr val="131928"/>
          </a:solidFill>
          <a:ln w="2286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9208007" y="1426464"/>
            <a:ext cx="438912" cy="27432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9253728" y="1453896"/>
            <a:ext cx="347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B0F17"/>
                </a:solidFill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720072" y="1408176"/>
            <a:ext cx="1353311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87171"/>
                </a:solidFill>
              </a:rPr>
              <a:t>Controller
Agent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208007" y="1938528"/>
            <a:ext cx="1865376" cy="635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9208007" y="2048256"/>
            <a:ext cx="1901951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</a:rPr>
              <a:t>• Multi-objective optimisation
  (latency / cost / quality)
• Chooses experiments to run
• Applies / rejects configs
• Learns from past decisions
• Rollback if SLO violated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20040" y="4828032"/>
            <a:ext cx="11430000" cy="1005840"/>
          </a:xfrm>
          <a:prstGeom prst="rect">
            <a:avLst/>
          </a:prstGeom>
          <a:solidFill>
            <a:srgbClr val="0E1E0E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548640" y="48920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4D399"/>
                </a:solidFill>
              </a:rPr>
              <a:t>⚡  Deterministic Authority Rule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5230368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</a:rPr>
              <a:t>Agents may propose hypotheses and configurations, but the Policy Engine has final authority.
Hard constraints on max latency, max cost, and min quality are NEVER overridden by an LLM suggestion.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164592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Dual Backend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13232"/>
            <a:ext cx="1170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4A3B8"/>
                </a:solidFill>
              </a:rPr>
              <a:t>Works with real providers and a deterministic simulator — never blocks on missing credentials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115568"/>
            <a:ext cx="11430000" cy="9525"/>
          </a:xfrm>
          <a:prstGeom prst="rect">
            <a:avLst/>
          </a:prstGeom>
          <a:solidFill>
            <a:srgbClr val="1E29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320040" y="1316736"/>
            <a:ext cx="3566160" cy="3749039"/>
          </a:xfrm>
          <a:prstGeom prst="rect">
            <a:avLst/>
          </a:prstGeom>
          <a:solidFill>
            <a:srgbClr val="131928"/>
          </a:solidFill>
          <a:ln w="2286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84632" y="1444752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38BDF8"/>
                </a:solidFill>
              </a:rPr>
              <a:t>Google Gemini API</a:t>
            </a:r>
          </a:p>
        </p:txBody>
      </p:sp>
      <p:sp>
        <p:nvSpPr>
          <p:cNvPr id="7" name="Rectangle 6"/>
          <p:cNvSpPr/>
          <p:nvPr/>
        </p:nvSpPr>
        <p:spPr>
          <a:xfrm>
            <a:off x="484632" y="2029968"/>
            <a:ext cx="3236976" cy="635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84632" y="2148840"/>
            <a:ext cx="32918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94A3B8"/>
                </a:solidFill>
              </a:rPr>
              <a:t>Model:        gemini-2.0-flash-exp
Auth:         GEMINI_API_KEY env var
Pricing:      $0.075 / 1M input tokens
              $0.30 / 1M output tokens
Features:     Streaming · function calling
              provider-reported usage
Fallback:     Simulator if key missing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484632" y="4754880"/>
            <a:ext cx="1051560" cy="2286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30352" y="4782312"/>
            <a:ext cx="960119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B0F17"/>
                </a:solidFill>
              </a:rPr>
              <a:t>Streaming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600200" y="4754880"/>
            <a:ext cx="1051560" cy="2286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645920" y="4782312"/>
            <a:ext cx="960119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B0F17"/>
                </a:solidFill>
              </a:rPr>
              <a:t>Real cost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15768" y="4754880"/>
            <a:ext cx="1051560" cy="2286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761487" y="4782312"/>
            <a:ext cx="960119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B0F17"/>
                </a:solidFill>
              </a:rPr>
              <a:t>Provider usage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42231" y="1316736"/>
            <a:ext cx="3566160" cy="3749039"/>
          </a:xfrm>
          <a:prstGeom prst="rect">
            <a:avLst/>
          </a:prstGeom>
          <a:solidFill>
            <a:srgbClr val="131928"/>
          </a:solidFill>
          <a:ln w="2286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306823" y="1444752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34D399"/>
                </a:solidFill>
              </a:rPr>
              <a:t>Ollama Local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06823" y="2029968"/>
            <a:ext cx="3236976" cy="635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306823" y="2148840"/>
            <a:ext cx="32918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94A3B8"/>
                </a:solidFill>
              </a:rPr>
              <a:t>Models:       llama3.2:3b · qwen2.5:7b
URL:          OLLAMA_BASE_URL env var
Pricing:      $0.00 (local compute)
Features:     Streaming · GPU/CPU
              no external API calls
Fallback:     Simulator if not running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06823" y="4754880"/>
            <a:ext cx="1051560" cy="2286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352543" y="4782312"/>
            <a:ext cx="960119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B0F17"/>
                </a:solidFill>
              </a:rPr>
              <a:t>Local / free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22391" y="4754880"/>
            <a:ext cx="1051560" cy="2286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468111" y="4782312"/>
            <a:ext cx="960119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B0F17"/>
                </a:solidFill>
              </a:rPr>
              <a:t>Streaming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37959" y="4754880"/>
            <a:ext cx="1051560" cy="2286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583679" y="4782312"/>
            <a:ext cx="960119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B0F17"/>
                </a:solidFill>
              </a:rPr>
              <a:t>GPU or CPU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64423" y="1316736"/>
            <a:ext cx="3566160" cy="3749039"/>
          </a:xfrm>
          <a:prstGeom prst="rect">
            <a:avLst/>
          </a:prstGeom>
          <a:solidFill>
            <a:srgbClr val="131928"/>
          </a:solidFill>
          <a:ln w="2286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129015" y="1444752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BBF24"/>
                </a:solidFill>
              </a:rPr>
              <a:t>Deterministic
Simulator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129015" y="2029968"/>
            <a:ext cx="3236976" cy="635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129015" y="2148840"/>
            <a:ext cx="32918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94A3B8"/>
                </a:solidFill>
              </a:rPr>
              <a:t>Purpose:      CI · demos · benchmarks
Profiles:     llama-3b · llama-70b · gpt-4
Latency:      Physics-based queueing model
              (M/D/1 queue, tokens/sec)
Label:        All data tagged SIMULATED
Advantage:    Fully reproducible — no API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29015" y="4754880"/>
            <a:ext cx="1051560" cy="22860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174736" y="4782312"/>
            <a:ext cx="960119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B0F17"/>
                </a:solidFill>
              </a:rPr>
              <a:t>Always available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244584" y="4754880"/>
            <a:ext cx="1051560" cy="22860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9290304" y="4782312"/>
            <a:ext cx="960119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B0F17"/>
                </a:solidFill>
              </a:rPr>
              <a:t>Reproducible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360151" y="4754880"/>
            <a:ext cx="1051560" cy="22860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10405872" y="4782312"/>
            <a:ext cx="960119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B0F17"/>
                </a:solidFill>
              </a:rPr>
              <a:t>Tagged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20040" y="5138928"/>
            <a:ext cx="11430000" cy="1463040"/>
          </a:xfrm>
          <a:prstGeom prst="rect">
            <a:avLst/>
          </a:prstGeom>
          <a:solidFill>
            <a:srgbClr val="131928"/>
          </a:solidFill>
          <a:ln w="12700">
            <a:solidFill>
              <a:srgbClr val="1E29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548640" y="52120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Routing Strategies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559612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94A3B8"/>
                </a:solidFill>
              </a:rPr>
              <a:t>• fixed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286000" y="5596128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</a:rPr>
              <a:t>Always use a single configured model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" y="589788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94A3B8"/>
                </a:solidFill>
              </a:rPr>
              <a:t>• round_robin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286000" y="589788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</a:rPr>
              <a:t>Distribute across eligible models evenly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61996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4D399"/>
                </a:solidFill>
              </a:rPr>
              <a:t>• lowest_cost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286000" y="6199632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</a:rPr>
              <a:t>Route to cheapest eligible model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35040" y="559612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8BDF8"/>
                </a:solidFill>
              </a:rPr>
              <a:t>• lowest_latency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72400" y="5596128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</a:rPr>
              <a:t>Route to fastest model by recent P95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35040" y="589788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BBF24"/>
                </a:solidFill>
              </a:rPr>
              <a:t>• quality_first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772400" y="589788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</a:rPr>
              <a:t>Prefer highest quality-scored model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35040" y="61996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87171"/>
                </a:solidFill>
              </a:rPr>
              <a:t>• balanced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772400" y="6199632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</a:rPr>
              <a:t>Pareto-optimal blend of cost + latency + quality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164592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Safety &amp; Policy Engine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13232"/>
            <a:ext cx="1170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4A3B8"/>
                </a:solidFill>
              </a:rPr>
              <a:t>Hard constraints are always enforced — the LLM can suggest but never override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115568"/>
            <a:ext cx="11430000" cy="9525"/>
          </a:xfrm>
          <a:prstGeom prst="rect">
            <a:avLst/>
          </a:prstGeom>
          <a:solidFill>
            <a:srgbClr val="1E29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320040" y="1316736"/>
            <a:ext cx="3566160" cy="3794760"/>
          </a:xfrm>
          <a:prstGeom prst="rect">
            <a:avLst/>
          </a:prstGeom>
          <a:solidFill>
            <a:srgbClr val="131928"/>
          </a:solidFill>
          <a:ln w="2286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84632" y="1444752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38BDF8"/>
                </a:solidFill>
              </a:rPr>
              <a:t>Max Latency</a:t>
            </a:r>
          </a:p>
        </p:txBody>
      </p:sp>
      <p:sp>
        <p:nvSpPr>
          <p:cNvPr id="7" name="Rectangle 6"/>
          <p:cNvSpPr/>
          <p:nvPr/>
        </p:nvSpPr>
        <p:spPr>
          <a:xfrm>
            <a:off x="484632" y="1883664"/>
            <a:ext cx="3236976" cy="320040"/>
          </a:xfrm>
          <a:prstGeom prst="rect">
            <a:avLst/>
          </a:prstGeom>
          <a:solidFill>
            <a:srgbClr val="0B0F17"/>
          </a:solidFill>
          <a:ln w="63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76072" y="1920240"/>
            <a:ext cx="3108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8BDF8"/>
                </a:solidFill>
              </a:rPr>
              <a:t>max_latency_ms: 5000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4632" y="2286000"/>
            <a:ext cx="329184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</a:rPr>
              <a:t>Any candidate configuration with measured
or estimated P95 latency above this threshold
is immediately eliminated from consideration.
Streaming responses track time-to-first-token
separately from total stream duration.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42231" y="1316736"/>
            <a:ext cx="3566160" cy="3794760"/>
          </a:xfrm>
          <a:prstGeom prst="rect">
            <a:avLst/>
          </a:prstGeom>
          <a:solidFill>
            <a:srgbClr val="131928"/>
          </a:solidFill>
          <a:ln w="2286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306823" y="1444752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BBF24"/>
                </a:solidFill>
              </a:rPr>
              <a:t>Max Cost / Request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06823" y="1883664"/>
            <a:ext cx="3236976" cy="320040"/>
          </a:xfrm>
          <a:prstGeom prst="rect">
            <a:avLst/>
          </a:prstGeom>
          <a:solidFill>
            <a:srgbClr val="0B0F17"/>
          </a:solidFill>
          <a:ln w="63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398264" y="1920240"/>
            <a:ext cx="3108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BBF24"/>
                </a:solidFill>
              </a:rPr>
              <a:t>max_estimated_cost_per_request: 0.01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06823" y="2286000"/>
            <a:ext cx="329184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</a:rPr>
              <a:t>Estimated cost is computed from token usage
and up-to-date pricing tables per provider.
formula: (in_tok × in_rate + out_tok × out_rate) / 1M
Provider-reported cost is preferred; estimated
cost is used as fallback and clearly labelled.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64423" y="1316736"/>
            <a:ext cx="3566160" cy="3794760"/>
          </a:xfrm>
          <a:prstGeom prst="rect">
            <a:avLst/>
          </a:prstGeom>
          <a:solidFill>
            <a:srgbClr val="131928"/>
          </a:solidFill>
          <a:ln w="2286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129015" y="1444752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34D399"/>
                </a:solidFill>
              </a:rPr>
              <a:t>Min Quality Score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29015" y="1883664"/>
            <a:ext cx="3236976" cy="320040"/>
          </a:xfrm>
          <a:prstGeom prst="rect">
            <a:avLst/>
          </a:prstGeom>
          <a:solidFill>
            <a:srgbClr val="0B0F17"/>
          </a:solidFill>
          <a:ln w="63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20455" y="1920240"/>
            <a:ext cx="3108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4D399"/>
                </a:solidFill>
              </a:rPr>
              <a:t>min_quality_score: 0.80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29015" y="2286000"/>
            <a:ext cx="329184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</a:rPr>
              <a:t>Quality Evaluator scores every sampled output
via LLM-as-judge or reference evaluation.
Any model below the threshold is blacklisted
for that workload class until re-evaluated.
Protects against silent model regressions.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040" y="5257800"/>
            <a:ext cx="11430000" cy="1371600"/>
          </a:xfrm>
          <a:prstGeom prst="rect">
            <a:avLst/>
          </a:prstGeom>
          <a:solidFill>
            <a:srgbClr val="0A121E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48640" y="5321808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8BDF8"/>
                </a:solidFill>
              </a:rPr>
              <a:t>Multi-Objective Pareto Optimisation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68756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</a:rPr>
              <a:t>score = α × (1 − latency_norm) + β × (1 − cost_norm) + γ × quality_norm
where α + β + γ = 1.0   (configurable weights per workload class)
Candidates on the Pareto frontier are plotted in the Control Room scatter chart.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164592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Control Room Dashboard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13232"/>
            <a:ext cx="1170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4A3B8"/>
                </a:solidFill>
              </a:rPr>
              <a:t>Real-time observability for every inference request — http://localhost:8000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115568"/>
            <a:ext cx="11430000" cy="9525"/>
          </a:xfrm>
          <a:prstGeom prst="rect">
            <a:avLst/>
          </a:prstGeom>
          <a:solidFill>
            <a:srgbClr val="1E29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320040" y="1261872"/>
            <a:ext cx="11521440" cy="438912"/>
          </a:xfrm>
          <a:prstGeom prst="rect">
            <a:avLst/>
          </a:prstGeom>
          <a:solidFill>
            <a:srgbClr val="131928"/>
          </a:solidFill>
          <a:ln w="12700">
            <a:solidFill>
              <a:srgbClr val="1E29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1316736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8BDF8"/>
                </a:solidFill>
              </a:rPr>
              <a:t>⬡  INFERCTRL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7440" y="1344168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</a:rPr>
              <a:t>Autonomous LLM Inference Optimizer</a:t>
            </a:r>
          </a:p>
        </p:txBody>
      </p:sp>
      <p:sp>
        <p:nvSpPr>
          <p:cNvPr id="8" name="Rectangle 7"/>
          <p:cNvSpPr/>
          <p:nvPr/>
        </p:nvSpPr>
        <p:spPr>
          <a:xfrm>
            <a:off x="8961120" y="1335024"/>
            <a:ext cx="1463040" cy="256032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006840" y="1362456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B0F17"/>
                </a:solidFill>
              </a:rPr>
              <a:t>● Optimizing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1344168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</a:rPr>
              <a:t>Last 1 hour ▾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1792224"/>
            <a:ext cx="2176272" cy="868680"/>
          </a:xfrm>
          <a:prstGeom prst="rect">
            <a:avLst/>
          </a:prstGeom>
          <a:solidFill>
            <a:srgbClr val="131928"/>
          </a:solidFill>
          <a:ln w="1524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29768" y="1847088"/>
            <a:ext cx="1993391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34D399"/>
                </a:solidFill>
              </a:rPr>
              <a:t>42.8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2258568"/>
            <a:ext cx="1993391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</a:rPr>
              <a:t>req/s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" y="2468880"/>
            <a:ext cx="1993391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34D399"/>
                </a:solidFill>
              </a:rPr>
              <a:t>+62% vs previous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578608" y="1792224"/>
            <a:ext cx="2176272" cy="868680"/>
          </a:xfrm>
          <a:prstGeom prst="rect">
            <a:avLst/>
          </a:prstGeom>
          <a:solidFill>
            <a:srgbClr val="131928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688336" y="1847088"/>
            <a:ext cx="1993391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38BDF8"/>
                </a:solidFill>
              </a:rPr>
              <a:t>612ms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88336" y="2258568"/>
            <a:ext cx="1993391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</a:rPr>
              <a:t>P95 Lat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88336" y="2468880"/>
            <a:ext cx="1993391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34D399"/>
                </a:solidFill>
              </a:rPr>
              <a:t>−54% improvement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837175" y="1792224"/>
            <a:ext cx="2176272" cy="868680"/>
          </a:xfrm>
          <a:prstGeom prst="rect">
            <a:avLst/>
          </a:prstGeom>
          <a:solidFill>
            <a:srgbClr val="131928"/>
          </a:solidFill>
          <a:ln w="1524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946903" y="1847088"/>
            <a:ext cx="1993391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BBF24"/>
                </a:solidFill>
              </a:rPr>
              <a:t>0.93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46903" y="2258568"/>
            <a:ext cx="1993391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</a:rPr>
              <a:t>Quality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46903" y="2468880"/>
            <a:ext cx="1993391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34D399"/>
                </a:solidFill>
              </a:rPr>
              <a:t>+2% vs previous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095743" y="1792224"/>
            <a:ext cx="2176272" cy="868680"/>
          </a:xfrm>
          <a:prstGeom prst="rect">
            <a:avLst/>
          </a:prstGeom>
          <a:solidFill>
            <a:srgbClr val="131928"/>
          </a:solidFill>
          <a:ln w="1524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205471" y="1847088"/>
            <a:ext cx="1993391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87171"/>
                </a:solidFill>
              </a:rPr>
              <a:t>$0.012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05471" y="2258568"/>
            <a:ext cx="1993391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</a:rPr>
              <a:t>Cost/1K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05471" y="2468880"/>
            <a:ext cx="1993391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34D399"/>
                </a:solidFill>
              </a:rPr>
              <a:t>−37% cost reduction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354311" y="1792224"/>
            <a:ext cx="2176272" cy="868680"/>
          </a:xfrm>
          <a:prstGeom prst="rect">
            <a:avLst/>
          </a:prstGeom>
          <a:solidFill>
            <a:srgbClr val="131928"/>
          </a:solidFill>
          <a:ln w="1524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464039" y="1847088"/>
            <a:ext cx="1993391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94A3B8"/>
                </a:solidFill>
              </a:rPr>
              <a:t>78%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64039" y="2258568"/>
            <a:ext cx="1993391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</a:rPr>
              <a:t>GPU Util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64039" y="2468880"/>
            <a:ext cx="1993391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34D399"/>
                </a:solidFill>
              </a:rPr>
              <a:t>4 / 4 GPUs active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0040" y="2816352"/>
            <a:ext cx="2697480" cy="2331720"/>
          </a:xfrm>
          <a:prstGeom prst="rect">
            <a:avLst/>
          </a:prstGeom>
          <a:solidFill>
            <a:srgbClr val="131928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48056" y="2907792"/>
            <a:ext cx="2468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8BDF8"/>
                </a:solidFill>
              </a:rPr>
              <a:t>📊  Live Performance Charts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48056" y="3328416"/>
            <a:ext cx="2441448" cy="508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48056" y="3429000"/>
            <a:ext cx="24688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94A3B8"/>
                </a:solidFill>
              </a:rPr>
              <a:t>Real-time req/sec, P95 latency ms,
and quality score sparklines.
Automatically annotates when
optimisation is applied.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191256" y="2816352"/>
            <a:ext cx="2697480" cy="2331720"/>
          </a:xfrm>
          <a:prstGeom prst="rect">
            <a:avLst/>
          </a:prstGeom>
          <a:solidFill>
            <a:srgbClr val="131928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3319272" y="2907792"/>
            <a:ext cx="2468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4D399"/>
                </a:solidFill>
              </a:rPr>
              <a:t>🔀  Request Flow Sankey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319272" y="3328416"/>
            <a:ext cx="2441448" cy="508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3319272" y="3429000"/>
            <a:ext cx="24688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94A3B8"/>
                </a:solidFill>
              </a:rPr>
              <a:t>Visualises traffic distribution
across providers (Chat 35%,
Code 20%, Reasoning 25%).
Updates every 5 seconds.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062472" y="2816352"/>
            <a:ext cx="2697480" cy="2331720"/>
          </a:xfrm>
          <a:prstGeom prst="rect">
            <a:avLst/>
          </a:prstGeom>
          <a:solidFill>
            <a:srgbClr val="131928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190488" y="2907792"/>
            <a:ext cx="2468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BBF24"/>
                </a:solidFill>
              </a:rPr>
              <a:t>🧪  Experiment Table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190488" y="3328416"/>
            <a:ext cx="2441448" cy="508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6190488" y="3429000"/>
            <a:ext cx="24688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94A3B8"/>
                </a:solidFill>
              </a:rPr>
              <a:t>EXP-042 through EXP-039 with
full config, latency, quality,
cost per 1K, and APPLIED /
INJECTED / REJECTED status.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933688" y="2816352"/>
            <a:ext cx="2697480" cy="2331720"/>
          </a:xfrm>
          <a:prstGeom prst="rect">
            <a:avLst/>
          </a:prstGeom>
          <a:solidFill>
            <a:srgbClr val="131928"/>
          </a:solidFill>
          <a:ln w="19050"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9061704" y="2907792"/>
            <a:ext cx="2468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084FC"/>
                </a:solidFill>
              </a:rPr>
              <a:t>🎯  Pareto Scatter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061704" y="3328416"/>
            <a:ext cx="2441448" cy="5080"/>
          </a:xfrm>
          <a:prstGeom prst="rect">
            <a:avLst/>
          </a:prstGeom>
          <a:solidFill>
            <a:srgbClr val="C08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9061704" y="3429000"/>
            <a:ext cx="24688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94A3B8"/>
                </a:solidFill>
              </a:rPr>
              <a:t>Cost vs Quality trade-off plot.
Pareto frontier highlighted.
Current config and past
experiments plotted live.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20040" y="5285232"/>
            <a:ext cx="11430000" cy="1417320"/>
          </a:xfrm>
          <a:prstGeom prst="rect">
            <a:avLst/>
          </a:prstGeom>
          <a:solidFill>
            <a:srgbClr val="0A121E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548640" y="5349240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Live URLs (run:  uvicorn apps.api.main:app --port 8000)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48640" y="5742432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38BDF8"/>
                </a:solidFill>
              </a:rPr>
              <a:t>Control Room:  http://localhost:8000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297679" y="5742432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34D399"/>
                </a:solidFill>
              </a:rPr>
              <a:t>Chatbot UI:  http://localhost:8000/chat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046719" y="5742432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BBF24"/>
                </a:solidFill>
              </a:rPr>
              <a:t>Pitch Deck:  http://localhost:8000/presentation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48640" y="6035040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</a:rPr>
              <a:t>REST API Docs:  http://localhost:8000/docs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297679" y="6035040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</a:rPr>
              <a:t>Health:  http://localhost:8000/health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164592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Canary Deployments &amp; Auto-Rollback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13232"/>
            <a:ext cx="1170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4A3B8"/>
                </a:solidFill>
              </a:rPr>
              <a:t>No configuration change goes live without passing a live traffic gate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115568"/>
            <a:ext cx="11430000" cy="9525"/>
          </a:xfrm>
          <a:prstGeom prst="rect">
            <a:avLst/>
          </a:prstGeom>
          <a:solidFill>
            <a:srgbClr val="1E29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320040" y="1316736"/>
            <a:ext cx="2697480" cy="3931920"/>
          </a:xfrm>
          <a:prstGeom prst="rect">
            <a:avLst/>
          </a:prstGeom>
          <a:solidFill>
            <a:srgbClr val="131928"/>
          </a:solidFill>
          <a:ln w="2286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48056" y="1444752"/>
            <a:ext cx="1005840" cy="27432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93776" y="1472184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B0F17"/>
                </a:solidFill>
              </a:rPr>
              <a:t>STEP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056" y="1783080"/>
            <a:ext cx="2468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8BDF8"/>
                </a:solidFill>
              </a:rPr>
              <a:t>Canary Proposal</a:t>
            </a:r>
          </a:p>
        </p:txBody>
      </p:sp>
      <p:sp>
        <p:nvSpPr>
          <p:cNvPr id="9" name="Rectangle 8"/>
          <p:cNvSpPr/>
          <p:nvPr/>
        </p:nvSpPr>
        <p:spPr>
          <a:xfrm>
            <a:off x="448056" y="2212848"/>
            <a:ext cx="2441448" cy="635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48056" y="2331720"/>
            <a:ext cx="2496312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</a:rPr>
              <a:t>Controller selects a candidate
optimisation config after Pareto
analysis ranks it as promising.
Canary rollout begins:
• 5% of live traffic routed to
  the new configuration.
• 95% stays on current baseline.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35808" y="2468880"/>
            <a:ext cx="20116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38BDF8"/>
                </a:solidFill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18688" y="1316736"/>
            <a:ext cx="2697480" cy="3931920"/>
          </a:xfrm>
          <a:prstGeom prst="rect">
            <a:avLst/>
          </a:prstGeom>
          <a:solidFill>
            <a:srgbClr val="131928"/>
          </a:solidFill>
          <a:ln w="2286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346704" y="1444752"/>
            <a:ext cx="1005840" cy="27432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392424" y="1472184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B0F17"/>
                </a:solidFill>
              </a:rPr>
              <a:t>STEP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46704" y="1783080"/>
            <a:ext cx="2468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BBF24"/>
                </a:solidFill>
              </a:rPr>
              <a:t>Watchdog Monitoring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46704" y="2212848"/>
            <a:ext cx="2441448" cy="635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346704" y="2331720"/>
            <a:ext cx="2496312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</a:rPr>
              <a:t>Watchdog agent monitors canary
traffic for 60 – 300 seconds:
• P95 latency vs baseline
• Error rate vs baseline
• Quality score vs threshold
All comparisons use actual
measured data (not estimates).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34456" y="2468880"/>
            <a:ext cx="20116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BBF24"/>
                </a:solidFill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17336" y="1316736"/>
            <a:ext cx="2697480" cy="3931920"/>
          </a:xfrm>
          <a:prstGeom prst="rect">
            <a:avLst/>
          </a:prstGeom>
          <a:solidFill>
            <a:srgbClr val="131928"/>
          </a:solidFill>
          <a:ln w="2286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245352" y="1444752"/>
            <a:ext cx="1005840" cy="27432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291072" y="1472184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B0F17"/>
                </a:solidFill>
              </a:rPr>
              <a:t>STEP 3A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45352" y="1783080"/>
            <a:ext cx="2468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4D399"/>
                </a:solidFill>
              </a:rPr>
              <a:t>Global Apply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45352" y="2212848"/>
            <a:ext cx="2441448" cy="635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245352" y="2331720"/>
            <a:ext cx="2496312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</a:rPr>
              <a:t>If ALL watchdog checks pass:
• Traffic split → 100% new config
• Baseline archived
• Experiment marked APPLIED
• Metrics snapshot stored
System continues searching for
the next improvement cycle.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34456" y="2468880"/>
            <a:ext cx="20116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4D399"/>
                </a:solidFill>
              </a:rPr>
              <a:t>✓ PASS 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15984" y="1316736"/>
            <a:ext cx="2697480" cy="3931920"/>
          </a:xfrm>
          <a:prstGeom prst="rect">
            <a:avLst/>
          </a:prstGeom>
          <a:solidFill>
            <a:srgbClr val="131928"/>
          </a:solidFill>
          <a:ln w="2286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9144000" y="1444752"/>
            <a:ext cx="1005840" cy="27432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189720" y="1472184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B0F17"/>
                </a:solidFill>
              </a:rPr>
              <a:t>STEP 3B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0" y="1783080"/>
            <a:ext cx="2468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87171"/>
                </a:solidFill>
              </a:rPr>
              <a:t>Auto-Rollback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144000" y="2212848"/>
            <a:ext cx="2441448" cy="635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9144000" y="2331720"/>
            <a:ext cx="2496312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</a:rPr>
              <a:t>If ANY watchdog check fails:
• Traffic snaps back to baseline
• Rollback completes &lt; 350 ms
• Candidate marked REJECTED
• Failure reason logged
System learns and avoids similar
configs in future experiments.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0040" y="5394960"/>
            <a:ext cx="11430000" cy="1261872"/>
          </a:xfrm>
          <a:prstGeom prst="rect">
            <a:avLst/>
          </a:prstGeom>
          <a:solidFill>
            <a:srgbClr val="0E101A"/>
          </a:solidFill>
          <a:ln w="12700">
            <a:solidFill>
              <a:srgbClr val="1E29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48640" y="5458968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Timing Reference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5833872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38BDF8"/>
                </a:solidFill>
              </a:rPr>
              <a:t>0 – 10 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6181344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4A3B8"/>
                </a:solidFill>
              </a:rPr>
              <a:t>Canary ramp-up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79776" y="5833872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BBF24"/>
                </a:solidFill>
              </a:rPr>
              <a:t>10 – 300 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779776" y="6181344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4A3B8"/>
                </a:solidFill>
              </a:rPr>
              <a:t>Watchdog window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10912" y="5833872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34D399"/>
                </a:solidFill>
              </a:rPr>
              <a:t>&lt; 1 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10912" y="6181344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4A3B8"/>
                </a:solidFill>
              </a:rPr>
              <a:t>Decision + apply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242048" y="5833872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87171"/>
                </a:solidFill>
              </a:rPr>
              <a:t>&lt; 350 ms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42048" y="6181344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4A3B8"/>
                </a:solidFill>
              </a:rPr>
              <a:t>Rollback time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473184" y="5833872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94A3B8"/>
                </a:solidFill>
              </a:rPr>
              <a:t>5 – 10 min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473184" y="6181344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4A3B8"/>
                </a:solidFill>
              </a:rPr>
              <a:t>Full cycle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164592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Measured Results &amp; ROI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13232"/>
            <a:ext cx="1170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4A3B8"/>
                </a:solidFill>
              </a:rPr>
              <a:t>Simulated benchmark over 10,000 synthetic requests — all data tagged as SIMULATED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115568"/>
            <a:ext cx="11430000" cy="9525"/>
          </a:xfrm>
          <a:prstGeom prst="rect">
            <a:avLst/>
          </a:prstGeom>
          <a:solidFill>
            <a:srgbClr val="1E29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320040" y="1298448"/>
            <a:ext cx="2697480" cy="1691640"/>
          </a:xfrm>
          <a:prstGeom prst="rect">
            <a:avLst/>
          </a:prstGeom>
          <a:solidFill>
            <a:srgbClr val="131928"/>
          </a:solidFill>
          <a:ln w="254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389888"/>
            <a:ext cx="2423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38BDF8"/>
                </a:solidFill>
              </a:rPr>
              <a:t>-54%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148840"/>
            <a:ext cx="2423160" cy="635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2212848"/>
            <a:ext cx="2423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P95 Latency Reduction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542032"/>
            <a:ext cx="2423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</a:rPr>
              <a:t>1,328 ms → 612 ms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18688" y="1298448"/>
            <a:ext cx="2697480" cy="1691640"/>
          </a:xfrm>
          <a:prstGeom prst="rect">
            <a:avLst/>
          </a:prstGeom>
          <a:solidFill>
            <a:srgbClr val="131928"/>
          </a:solidFill>
          <a:ln w="254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355848" y="1389888"/>
            <a:ext cx="2423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34D399"/>
                </a:solidFill>
              </a:rPr>
              <a:t>-37%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55848" y="2148840"/>
            <a:ext cx="2423160" cy="635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355848" y="2212848"/>
            <a:ext cx="2423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Cost / 1K Tokens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55848" y="2542032"/>
            <a:ext cx="2423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</a:rPr>
              <a:t>$0.019 → $0.012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17336" y="1298448"/>
            <a:ext cx="2697480" cy="1691640"/>
          </a:xfrm>
          <a:prstGeom prst="rect">
            <a:avLst/>
          </a:prstGeom>
          <a:solidFill>
            <a:srgbClr val="131928"/>
          </a:solidFill>
          <a:ln w="254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254496" y="1389888"/>
            <a:ext cx="2423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BBF24"/>
                </a:solidFill>
              </a:rPr>
              <a:t>+28%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54496" y="2148840"/>
            <a:ext cx="2423160" cy="635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254496" y="2212848"/>
            <a:ext cx="2423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Throughput Increase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54496" y="2542032"/>
            <a:ext cx="2423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</a:rPr>
              <a:t>33 → 42.8 req/sec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15984" y="1298448"/>
            <a:ext cx="2697480" cy="1691640"/>
          </a:xfrm>
          <a:prstGeom prst="rect">
            <a:avLst/>
          </a:prstGeom>
          <a:solidFill>
            <a:srgbClr val="131928"/>
          </a:solidFill>
          <a:ln w="2540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153144" y="1389888"/>
            <a:ext cx="2423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87171"/>
                </a:solidFill>
              </a:rPr>
              <a:t>0%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53144" y="2148840"/>
            <a:ext cx="2423160" cy="635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153144" y="2212848"/>
            <a:ext cx="2423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Quality Regressions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53144" y="2542032"/>
            <a:ext cx="2423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</a:rPr>
              <a:t>93% quality score maintained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40" y="3145536"/>
            <a:ext cx="11430000" cy="1828800"/>
          </a:xfrm>
          <a:prstGeom prst="rect">
            <a:avLst/>
          </a:prstGeom>
          <a:solidFill>
            <a:srgbClr val="131928"/>
          </a:solidFill>
          <a:ln w="12700">
            <a:solidFill>
              <a:srgbClr val="1E29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02920" y="3200400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Recent Benchmark Experiments  (simulated)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3547872"/>
            <a:ext cx="11247120" cy="9525"/>
          </a:xfrm>
          <a:prstGeom prst="rect">
            <a:avLst/>
          </a:prstGeom>
          <a:solidFill>
            <a:srgbClr val="1E29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02920" y="3273552"/>
            <a:ext cx="594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4A3B8"/>
                </a:solidFill>
              </a:rPr>
              <a:t>ID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3000" y="3273552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4A3B8"/>
                </a:solidFill>
              </a:rPr>
              <a:t>Strategy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423160" y="3273552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4A3B8"/>
                </a:solidFill>
              </a:rPr>
              <a:t>Batch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91840" y="32735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4A3B8"/>
                </a:solidFill>
              </a:rPr>
              <a:t>Concurrency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43400" y="3273552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4A3B8"/>
                </a:solidFill>
              </a:rPr>
              <a:t>P95 Latency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577840" y="327355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4A3B8"/>
                </a:solidFill>
              </a:rPr>
              <a:t>Quality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37960" y="3273552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4A3B8"/>
                </a:solidFill>
              </a:rPr>
              <a:t>Cost/1K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35240" y="3273552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4A3B8"/>
                </a:solidFill>
              </a:rPr>
              <a:t>Result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3611880"/>
            <a:ext cx="594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</a:rPr>
              <a:t>EXP-042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43000" y="3611880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</a:rPr>
              <a:t>cost-optimised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423160" y="361188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</a:rPr>
              <a:t>16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291840" y="361188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</a:rPr>
              <a:t>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343400" y="361188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</a:rPr>
              <a:t>612 ms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77840" y="36118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</a:rPr>
              <a:t>0.93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37960" y="3611880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</a:rPr>
              <a:t>$0.012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635240" y="361188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34D399"/>
                </a:solidFill>
              </a:rPr>
              <a:t>✔ APPLIED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3931920"/>
            <a:ext cx="594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</a:rPr>
              <a:t>EXP-041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43000" y="3931920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</a:rPr>
              <a:t>quality-first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423160" y="393192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</a:rPr>
              <a:t>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291840" y="393192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</a:rPr>
              <a:t>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343400" y="39319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</a:rPr>
              <a:t>1,240 ms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577840" y="39319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</a:rPr>
              <a:t>0.96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537960" y="3931920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</a:rPr>
              <a:t>$0.018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635240" y="393192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BBF24"/>
                </a:solidFill>
              </a:rPr>
              <a:t>◉ INJECTED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02920" y="4251960"/>
            <a:ext cx="594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</a:rPr>
              <a:t>EXP-040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143000" y="4251960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</a:rPr>
              <a:t>high-throughput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423160" y="425196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</a:rPr>
              <a:t>32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291840" y="425196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</a:rPr>
              <a:t>16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343400" y="425196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</a:rPr>
              <a:t>480 ms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77840" y="425196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</a:rPr>
              <a:t>0.89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537960" y="4251960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</a:rPr>
              <a:t>$0.015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635240" y="425196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BBF24"/>
                </a:solidFill>
              </a:rPr>
              <a:t>◉ INJECTED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02920" y="4572000"/>
            <a:ext cx="594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</a:rPr>
              <a:t>EXP-039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43000" y="4572000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</a:rPr>
              <a:t>low-latency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423160" y="457200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</a:rPr>
              <a:t>8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291840" y="457200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</a:rPr>
              <a:t>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343400" y="457200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</a:rPr>
              <a:t>390 ms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577840" y="45720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</a:rPr>
              <a:t>0.87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537960" y="4572000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</a:rPr>
              <a:t>$0.018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35240" y="457200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BBF24"/>
                </a:solidFill>
              </a:rPr>
              <a:t>◉ INJECTED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20040" y="5074920"/>
            <a:ext cx="11430000" cy="1600200"/>
          </a:xfrm>
          <a:prstGeom prst="rect">
            <a:avLst/>
          </a:prstGeom>
          <a:solidFill>
            <a:srgbClr val="0E1E0E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548640" y="5138928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4D399"/>
                </a:solidFill>
              </a:rPr>
              <a:t>Projected ROI (illustrative, USD)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8640" y="5559552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34D399"/>
                </a:solidFill>
              </a:rPr>
              <a:t>• API cost reduction:  $14,500/mo  saved at 10M req/mo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217920" y="5559552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38BDF8"/>
                </a:solidFill>
              </a:rPr>
              <a:t>• Latency improvement:  54% lower P95 → measurable UX gain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48640" y="5907024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BBF24"/>
                </a:solidFill>
              </a:rPr>
              <a:t>• Engineering overhead:  Autonomous loop replaces manual tuning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217920" y="5907024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</a:rPr>
              <a:t>• Quality protection:  0% regressions in 30-day rolling window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164592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Tech Stack &amp;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1323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4A3B8"/>
                </a:solidFill>
              </a:rPr>
              <a:t>Production-ready architecture built on battle-tested open source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115568"/>
            <a:ext cx="11430000" cy="9525"/>
          </a:xfrm>
          <a:prstGeom prst="rect">
            <a:avLst/>
          </a:prstGeom>
          <a:solidFill>
            <a:srgbClr val="1E29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320040" y="1280160"/>
            <a:ext cx="3566160" cy="1691640"/>
          </a:xfrm>
          <a:prstGeom prst="rect">
            <a:avLst/>
          </a:prstGeom>
          <a:solidFill>
            <a:srgbClr val="131928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48056" y="137160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8BDF8"/>
                </a:solidFill>
              </a:rPr>
              <a:t>Backend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" y="173736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</a:rPr>
              <a:t>  • FastAPI 0.115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056" y="2011679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</a:rPr>
              <a:t>  • Python 3.12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" y="228600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</a:rPr>
              <a:t>  • Pydantic v2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" y="256032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</a:rPr>
              <a:t>  • Uvicorn / ASGI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32073" y="1280160"/>
            <a:ext cx="3566160" cy="1691640"/>
          </a:xfrm>
          <a:prstGeom prst="rect">
            <a:avLst/>
          </a:prstGeom>
          <a:solidFill>
            <a:srgbClr val="131928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460089" y="137160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4D399"/>
                </a:solidFill>
              </a:rPr>
              <a:t>AI / Providers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60089" y="173736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</a:rPr>
              <a:t>  • google-genai 2.34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60089" y="2011679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</a:rPr>
              <a:t>  • Ollama REST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60089" y="228600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</a:rPr>
              <a:t>  • Simulator (built-in)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60089" y="256032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</a:rPr>
              <a:t>  • OpenAI SDK compat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44107" y="1280160"/>
            <a:ext cx="3566160" cy="1691640"/>
          </a:xfrm>
          <a:prstGeom prst="rect">
            <a:avLst/>
          </a:prstGeom>
          <a:solidFill>
            <a:srgbClr val="131928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72123" y="137160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BBF24"/>
                </a:solidFill>
              </a:rPr>
              <a:t>Optimisation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2123" y="173736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</a:rPr>
              <a:t>  • Optuna (HPO)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2123" y="2011679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</a:rPr>
              <a:t>  • NumPy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72123" y="228600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</a:rPr>
              <a:t>  • M/D/1 queue model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72123" y="256032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</a:rPr>
              <a:t>  • Pareto frontier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040" y="3154679"/>
            <a:ext cx="3566160" cy="1691640"/>
          </a:xfrm>
          <a:prstGeom prst="rect">
            <a:avLst/>
          </a:prstGeom>
          <a:solidFill>
            <a:srgbClr val="131928"/>
          </a:solidFill>
          <a:ln w="19050"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48056" y="324612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084FC"/>
                </a:solidFill>
              </a:rPr>
              <a:t>Observability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" y="3611879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</a:rPr>
              <a:t>  • Request metrics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" y="388620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</a:rPr>
              <a:t>  • Token tracking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6" y="416052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</a:rPr>
              <a:t>  • Cost accounting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" y="443484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</a:rPr>
              <a:t>  • Quality eval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332073" y="3154679"/>
            <a:ext cx="3566160" cy="1691640"/>
          </a:xfrm>
          <a:prstGeom prst="rect">
            <a:avLst/>
          </a:prstGeom>
          <a:solidFill>
            <a:srgbClr val="131928"/>
          </a:solidFill>
          <a:ln w="1905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3460089" y="324612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87171"/>
                </a:solidFill>
              </a:rPr>
              <a:t>Testing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60089" y="3611879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</a:rPr>
              <a:t>  • Pytest 30 tests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60089" y="388620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</a:rPr>
              <a:t>  • Unit + integration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60089" y="416052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</a:rPr>
              <a:t>  • FastAPI TestClient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460089" y="443484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</a:rPr>
              <a:t>  • 100% pass rate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44107" y="3154679"/>
            <a:ext cx="3566160" cy="1691640"/>
          </a:xfrm>
          <a:prstGeom prst="rect">
            <a:avLst/>
          </a:prstGeom>
          <a:solidFill>
            <a:srgbClr val="131928"/>
          </a:solidFill>
          <a:ln w="190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472123" y="324612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94A3B8"/>
                </a:solidFill>
              </a:rPr>
              <a:t>Frontend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72123" y="3611879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</a:rPr>
              <a:t>  • Vanilla HTML/JS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72123" y="388620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</a:rPr>
              <a:t>  • Chart.js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72123" y="416052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</a:rPr>
              <a:t>  • Tailwind CSS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72123" y="443484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</a:rPr>
              <a:t>  • No build step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20040" y="4956048"/>
            <a:ext cx="11430000" cy="777240"/>
          </a:xfrm>
          <a:prstGeom prst="rect">
            <a:avLst/>
          </a:prstGeom>
          <a:solidFill>
            <a:srgbClr val="131928"/>
          </a:solidFill>
          <a:ln w="12700">
            <a:solidFill>
              <a:srgbClr val="1E29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502920" y="5010912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Roadmap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2920" y="5321808"/>
            <a:ext cx="1005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4D399"/>
                </a:solidFill>
              </a:rPr>
              <a:t>v1 (done)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527048" y="5321808"/>
            <a:ext cx="1691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</a:rPr>
              <a:t>Gateway · Routing · Policy · Canary · Dashboard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291839" y="5321808"/>
            <a:ext cx="1005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8BDF8"/>
                </a:solidFill>
              </a:rPr>
              <a:t>v2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315968" y="5321808"/>
            <a:ext cx="1691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</a:rPr>
              <a:t>Prometheus export · Grafana dashboards · Alerting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80759" y="5321808"/>
            <a:ext cx="1005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BBF24"/>
                </a:solidFill>
              </a:rPr>
              <a:t>v3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104888" y="5321808"/>
            <a:ext cx="1691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</a:rPr>
              <a:t>Multi-tenant · SDK · vLLM / TGI adapters · real GPU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869680" y="5321808"/>
            <a:ext cx="1005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94A3B8"/>
                </a:solidFill>
              </a:rPr>
              <a:t>v4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893808" y="5321808"/>
            <a:ext cx="1691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</a:rPr>
              <a:t>SaaS control plane · Team analytics · Cost budgets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20040" y="5852160"/>
            <a:ext cx="11430000" cy="822960"/>
          </a:xfrm>
          <a:prstGeom prst="rect">
            <a:avLst/>
          </a:prstGeom>
          <a:solidFill>
            <a:srgbClr val="051025"/>
          </a:solidFill>
          <a:ln w="2286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548640" y="5943600"/>
            <a:ext cx="109728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38BDF8"/>
                </a:solidFill>
              </a:rPr>
              <a:t>🚀   INFERCTRL  —  Run it now:   uvicorn apps.api.main:app --port 8000   then open  http://localhost:8000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15</TotalTime>
  <Words>1981</Words>
  <Application>Microsoft Office PowerPoint</Application>
  <PresentationFormat>Custom</PresentationFormat>
  <Paragraphs>275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SAKSHAM CHHABRA</cp:lastModifiedBy>
  <cp:revision>1</cp:revision>
  <dcterms:created xsi:type="dcterms:W3CDTF">2013-01-27T09:14:16Z</dcterms:created>
  <dcterms:modified xsi:type="dcterms:W3CDTF">2026-10-29T12:06:30Z</dcterms:modified>
  <cp:category/>
</cp:coreProperties>
</file>