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6"/>
    <p:sldId id="267" r:id="rId17"/>
    <p:sldId id="268" r:id="rId18"/>
    <p:sldId id="269" r:id="rId19"/>
    <p:sldId id="270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68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50292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INFERCTRL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17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8BDF8"/>
                </a:solidFill>
              </a:rPr>
              <a:t>Autonomous LLM Inference Optimization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057400"/>
            <a:ext cx="86868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224028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A self-optimizing inference layer that continuously observes, benchmarks,
evaluates, and routes LLM traffic — reducing latency and cost without
sacrificing answer quality.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520440"/>
            <a:ext cx="2560320" cy="1234440"/>
          </a:xfrm>
          <a:prstGeom prst="rect">
            <a:avLst/>
          </a:prstGeom>
          <a:solidFill>
            <a:srgbClr val="1319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584448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8BDF8"/>
                </a:solidFill>
              </a:rPr>
              <a:t>-54%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P95 Latency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4952" y="3520440"/>
            <a:ext cx="2560320" cy="1234440"/>
          </a:xfrm>
          <a:prstGeom prst="rect">
            <a:avLst/>
          </a:prstGeom>
          <a:solidFill>
            <a:srgbClr val="13192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82112" y="3584448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4D399"/>
                </a:solidFill>
              </a:rPr>
              <a:t>-37%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42062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Cost / 1K tokens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9864" y="3520440"/>
            <a:ext cx="2560320" cy="1234440"/>
          </a:xfrm>
          <a:prstGeom prst="rect">
            <a:avLst/>
          </a:prstGeom>
          <a:solidFill>
            <a:srgbClr val="13192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07024" y="3584448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BBF24"/>
                </a:solidFill>
              </a:rPr>
              <a:t>+28%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7024" y="42062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Throughput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94776" y="3520440"/>
            <a:ext cx="2560320" cy="1234440"/>
          </a:xfrm>
          <a:prstGeom prst="rect">
            <a:avLst/>
          </a:prstGeom>
          <a:solidFill>
            <a:srgbClr val="131928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31936" y="3584448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87171"/>
                </a:solidFill>
              </a:rPr>
              <a:t>&lt;350ms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42062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Auto-Rollback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309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44"/>
                </a:solidFill>
              </a:rPr>
              <a:t>github.com/inferctrl  ·  FastAPI · Python 3.12 · Multi-Agent · OpenAI-compatible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18320" y="274320"/>
            <a:ext cx="2468880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64040" y="301751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0F17"/>
                </a:solidFill>
              </a:rPr>
              <a:t>FastAPI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685800"/>
            <a:ext cx="2468880" cy="2926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64040" y="713232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0F17"/>
                </a:solidFill>
              </a:rPr>
              <a:t>Multi-Agent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1097280"/>
            <a:ext cx="2468880" cy="2926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64040" y="1124712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0F17"/>
                </a:solidFill>
              </a:rPr>
              <a:t>OpenAI-compat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LLM Inference Trilemma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Every production team faces the same impossible trade-off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70432"/>
            <a:ext cx="11430000" cy="9525"/>
          </a:xfrm>
          <a:prstGeom prst="rect">
            <a:avLst/>
          </a:prstGeom>
          <a:solidFill>
            <a:srgbClr val="1E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3749039"/>
          </a:xfrm>
          <a:prstGeom prst="rect">
            <a:avLst/>
          </a:prstGeom>
          <a:solidFill>
            <a:srgbClr val="131928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5087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8BDF8"/>
                </a:solidFill>
              </a:rPr>
              <a:t>⏱  Latency Spikes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2057400"/>
            <a:ext cx="3236976" cy="63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2176272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P95 latency balloons 3–5× during traffic bursts.
Static autoscalers are blind to prompt length,
queue depth, and decode complexity.
Users abandon sessions.  SLAs are violated.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7952" y="1371600"/>
            <a:ext cx="3566160" cy="3749039"/>
          </a:xfrm>
          <a:prstGeom prst="rect">
            <a:avLst/>
          </a:prstGeom>
          <a:solidFill>
            <a:srgbClr val="131928"/>
          </a:solidFill>
          <a:ln w="228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52544" y="15087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BBF24"/>
                </a:solidFill>
              </a:rPr>
              <a:t>💸  Runaway Costs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2544" y="2057400"/>
            <a:ext cx="3236976" cy="63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52544" y="2176272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GPT-4-class models billed for every request,
even trivial ones a 7B local model could answer.
No differentiation between a 10-token greeting
and a 4K-token code-review task.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0144" y="1371600"/>
            <a:ext cx="3566160" cy="3749039"/>
          </a:xfrm>
          <a:prstGeom prst="rect">
            <a:avLst/>
          </a:prstGeom>
          <a:solidFill>
            <a:srgbClr val="131928"/>
          </a:solidFill>
          <a:ln w="228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74736" y="15087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7171"/>
                </a:solidFill>
              </a:rPr>
              <a:t>📉  Silent Quality Drift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4736" y="2057400"/>
            <a:ext cx="3236976" cy="63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74736" y="2176272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Model updates, prompt regressions, or hardware
failures silently degrade answer quality.
There is no feedback loop.  No canary.  No rollback.
Teams discover regressions from user complaints.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257800"/>
            <a:ext cx="11430000" cy="868680"/>
          </a:xfrm>
          <a:prstGeom prst="rect">
            <a:avLst/>
          </a:prstGeom>
          <a:solidFill>
            <a:srgbClr val="1A1008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53492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BBF24"/>
                </a:solidFill>
              </a:rPr>
              <a:t>"We spent 40% of our ML budget on inference and had no idea which requests were expensive or whether the model was actually helping users."  — Common engineering post-mortem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Introducing INFERCTRL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A closed-loop feedback system — Observe → Benchmark → Evaluate → Optimize → Verify → Roll 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9525"/>
          </a:xfrm>
          <a:prstGeom prst="rect">
            <a:avLst/>
          </a:prstGeom>
          <a:solidFill>
            <a:srgbClr val="1E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2084831" cy="2377440"/>
          </a:xfrm>
          <a:prstGeom prst="rect">
            <a:avLst/>
          </a:prstGeom>
          <a:solidFill>
            <a:srgbClr val="131928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1417320"/>
            <a:ext cx="190195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1  OBSERVE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" y="1874519"/>
            <a:ext cx="1865376" cy="63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" y="1993392"/>
            <a:ext cx="1901951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Capture every request:
latency, tokens, cost,
quality, provider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5" y="2240280"/>
            <a:ext cx="128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298448"/>
            <a:ext cx="2084831" cy="2377440"/>
          </a:xfrm>
          <a:prstGeom prst="rect">
            <a:avLst/>
          </a:prstGeom>
          <a:solidFill>
            <a:srgbClr val="131928"/>
          </a:solidFill>
          <a:ln w="228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24328" y="1417320"/>
            <a:ext cx="190195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2  BENCHMARK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24328" y="1874519"/>
            <a:ext cx="1865376" cy="63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24328" y="1993392"/>
            <a:ext cx="1901951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Run controlled A/B tests
across providers and
batch strategies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5" y="2240280"/>
            <a:ext cx="128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59" y="1298448"/>
            <a:ext cx="2084831" cy="2377440"/>
          </a:xfrm>
          <a:prstGeom prst="rect">
            <a:avLst/>
          </a:prstGeom>
          <a:solidFill>
            <a:srgbClr val="131928"/>
          </a:solidFill>
          <a:ln w="228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18888" y="1417320"/>
            <a:ext cx="190195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3  EVALUATE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18888" y="1874519"/>
            <a:ext cx="1865376" cy="63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18888" y="1993392"/>
            <a:ext cx="1901951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Score output quality.
Detect regressions.
Compute Pareto frontier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3136" y="2240280"/>
            <a:ext cx="128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BBF24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19" y="1298448"/>
            <a:ext cx="2084831" cy="2377440"/>
          </a:xfrm>
          <a:prstGeom prst="rect">
            <a:avLst/>
          </a:prstGeom>
          <a:solidFill>
            <a:srgbClr val="131928"/>
          </a:solidFill>
          <a:ln w="2286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13447" y="1417320"/>
            <a:ext cx="190195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84FC"/>
                </a:solidFill>
              </a:rPr>
              <a:t>4  OPTIMIZE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13447" y="1874519"/>
            <a:ext cx="1865376" cy="635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13447" y="1993392"/>
            <a:ext cx="1901951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Select best config.
Canary rollout at 5%.
Monitor watchdog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7695" y="2240280"/>
            <a:ext cx="128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84FC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1298448"/>
            <a:ext cx="2084831" cy="2377440"/>
          </a:xfrm>
          <a:prstGeom prst="rect">
            <a:avLst/>
          </a:prstGeom>
          <a:solidFill>
            <a:srgbClr val="131928"/>
          </a:solidFill>
          <a:ln w="228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08007" y="1417320"/>
            <a:ext cx="190195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5  VERIFY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08007" y="1874519"/>
            <a:ext cx="1865376" cy="63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08007" y="1993392"/>
            <a:ext cx="1901951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Confirm SLA met.
Apply globally or
auto-roll back &lt;350 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886200"/>
            <a:ext cx="2697480" cy="1828800"/>
          </a:xfrm>
          <a:prstGeom prst="rect">
            <a:avLst/>
          </a:prstGeom>
          <a:solidFill>
            <a:srgbClr val="1319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397763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OpenAI-Compatible Gateway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" y="4407408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Drop-in replacement for the OpenAI client.
Zero code changes in existing apps.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82112" y="3886200"/>
            <a:ext cx="2697480" cy="1828800"/>
          </a:xfrm>
          <a:prstGeom prst="rect">
            <a:avLst/>
          </a:prstGeom>
          <a:solidFill>
            <a:srgbClr val="13192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10128" y="397763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5-Agent Autonomous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0128" y="4407408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Workload Analyst → Scheduler → Benchmarker
→ Quality Evaluator → Controller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44184" y="3886200"/>
            <a:ext cx="2697480" cy="1828800"/>
          </a:xfrm>
          <a:prstGeom prst="rect">
            <a:avLst/>
          </a:prstGeom>
          <a:solidFill>
            <a:srgbClr val="13192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72200" y="397763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Deterministic Policy Guardrails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4407408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Hard constraints on latency, cost, quality.
LLMs propose; policy enforces.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06256" y="3886200"/>
            <a:ext cx="2697480" cy="1828800"/>
          </a:xfrm>
          <a:prstGeom prst="rect">
            <a:avLst/>
          </a:prstGeom>
          <a:solidFill>
            <a:srgbClr val="131928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34272" y="397763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Canary Rollout + Auto-Rollback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34272" y="4407408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5% canary traffic. Watchdog on P95 + errors.
Global apply or instant rollback.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5-Agent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Each agent owns a specific responsibility. The Controller coordinates them all.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11430000" cy="9525"/>
          </a:xfrm>
          <a:prstGeom prst="rect">
            <a:avLst/>
          </a:prstGeom>
          <a:solidFill>
            <a:srgbClr val="1E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2084831" cy="3383280"/>
          </a:xfrm>
          <a:prstGeom prst="rect">
            <a:avLst/>
          </a:prstGeom>
          <a:solidFill>
            <a:srgbClr val="131928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9768" y="1426464"/>
            <a:ext cx="438912" cy="274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45389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0F17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408176"/>
            <a:ext cx="135331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Workload
Analyst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" y="1938528"/>
            <a:ext cx="1865376" cy="63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" y="2048256"/>
            <a:ext cx="1901951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Classifies prompt complexity
  (trivial / medium / complex)
• Estimates resource demand
• Detects traffic regime
  (idle / bursty / sustained)
• Outputs WorkloadReport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1298448"/>
            <a:ext cx="2084831" cy="3383280"/>
          </a:xfrm>
          <a:prstGeom prst="rect">
            <a:avLst/>
          </a:prstGeom>
          <a:solidFill>
            <a:srgbClr val="131928"/>
          </a:solidFill>
          <a:ln w="228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24328" y="1426464"/>
            <a:ext cx="438912" cy="274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70048" y="145389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0F17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1408176"/>
            <a:ext cx="135331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Benchmark
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4328" y="1938528"/>
            <a:ext cx="1865376" cy="63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24328" y="2048256"/>
            <a:ext cx="1901951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Selects candidate configs
• Runs controlled A/B tests
• Measures latency P50/P95,
  throughput, GPU utilisation
• Feeds results to Controller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59" y="1298448"/>
            <a:ext cx="2084831" cy="3383280"/>
          </a:xfrm>
          <a:prstGeom prst="rect">
            <a:avLst/>
          </a:prstGeom>
          <a:solidFill>
            <a:srgbClr val="131928"/>
          </a:solidFill>
          <a:ln w="228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18888" y="1426464"/>
            <a:ext cx="438912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7" y="145389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0F17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1" y="1408176"/>
            <a:ext cx="135331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Quality
Evaluator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18888" y="1938528"/>
            <a:ext cx="1865376" cy="63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18888" y="2048256"/>
            <a:ext cx="1901951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Scores LLM outputs via
  LLM-as-judge / reference eval
• Domain-specific metrics
  (code correctness, factuality)
• Triggers rollback if quality
  falls below threshold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19" y="1298448"/>
            <a:ext cx="2084831" cy="3383280"/>
          </a:xfrm>
          <a:prstGeom prst="rect">
            <a:avLst/>
          </a:prstGeom>
          <a:solidFill>
            <a:srgbClr val="131928"/>
          </a:solidFill>
          <a:ln w="2286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13447" y="1426464"/>
            <a:ext cx="438912" cy="27432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59167" y="145389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0F17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11" y="1408176"/>
            <a:ext cx="135331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84FC"/>
                </a:solidFill>
              </a:rPr>
              <a:t>Scheduler
Agent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13447" y="1938528"/>
            <a:ext cx="1865376" cy="635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13447" y="2048256"/>
            <a:ext cx="1901951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Adjusts real-time serving
  parameters per controller
• Dynamic batching settings
• Concurrency limits per model
• GPU resource allocation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1298448"/>
            <a:ext cx="2084831" cy="3383280"/>
          </a:xfrm>
          <a:prstGeom prst="rect">
            <a:avLst/>
          </a:prstGeom>
          <a:solidFill>
            <a:srgbClr val="131928"/>
          </a:solidFill>
          <a:ln w="228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208007" y="1426464"/>
            <a:ext cx="438912" cy="274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53728" y="145389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0F17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72" y="1408176"/>
            <a:ext cx="135331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Controller
Agent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08007" y="1938528"/>
            <a:ext cx="1865376" cy="63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08007" y="2048256"/>
            <a:ext cx="1901951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Multi-objective optimisation
  (latency / cost / quality)
• Chooses experiments to run
• Applies / rejects configs
• Learns from past decisions
• Rollback if SLO violated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828032"/>
            <a:ext cx="11430000" cy="1005840"/>
          </a:xfrm>
          <a:prstGeom prst="rect">
            <a:avLst/>
          </a:prstGeom>
          <a:solidFill>
            <a:srgbClr val="0E1E0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4892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⚡  Deterministic Authority Rule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23036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Agents may propose hypotheses and configurations, but the Policy Engine has final authority.
Hard constraints on max latency, max cost, and min quality are NEVER overridden by an LLM suggestion.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Dual Backend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Works with real providers and a deterministic simulator — never blocks on missing credentials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11430000" cy="9525"/>
          </a:xfrm>
          <a:prstGeom prst="rect">
            <a:avLst/>
          </a:prstGeom>
          <a:solidFill>
            <a:srgbClr val="1E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316736"/>
            <a:ext cx="3566160" cy="3749039"/>
          </a:xfrm>
          <a:prstGeom prst="rect">
            <a:avLst/>
          </a:prstGeom>
          <a:solidFill>
            <a:srgbClr val="131928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4632" y="144475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Google Gemini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" y="2029968"/>
            <a:ext cx="3236976" cy="63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21488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Model:        gemini-2.0-flash-exp
Auth:         GEMINI_API_KEY env var
Pricing:      $0.075 / 1M input tokens
              $0.30 / 1M output tokens
Features:     Streaming · function calling
              provider-reported usage
Fallback:     Simulator if key missing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" y="4754880"/>
            <a:ext cx="1051560" cy="228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4782312"/>
            <a:ext cx="96011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0F17"/>
                </a:solidFill>
              </a:rPr>
              <a:t>Streaming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4754880"/>
            <a:ext cx="1051560" cy="228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45920" y="4782312"/>
            <a:ext cx="96011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0F17"/>
                </a:solidFill>
              </a:rPr>
              <a:t>Real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15768" y="4754880"/>
            <a:ext cx="1051560" cy="228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61487" y="4782312"/>
            <a:ext cx="96011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0F17"/>
                </a:solidFill>
              </a:rPr>
              <a:t>Provider usage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42231" y="1316736"/>
            <a:ext cx="3566160" cy="3749039"/>
          </a:xfrm>
          <a:prstGeom prst="rect">
            <a:avLst/>
          </a:prstGeom>
          <a:solidFill>
            <a:srgbClr val="131928"/>
          </a:solidFill>
          <a:ln w="228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06823" y="144475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</a:rPr>
              <a:t>Ollama Local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06823" y="2029968"/>
            <a:ext cx="3236976" cy="63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06823" y="21488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Models:       llama3.2:3b · qwen2.5:7b
URL:          OLLAMA_BASE_URL env var
Pricing:      $0.00 (local compute)
Features:     Streaming · GPU/CPU
              no external API calls
Fallback:     Simulator if not running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3" y="4754880"/>
            <a:ext cx="1051560" cy="228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52543" y="4782312"/>
            <a:ext cx="96011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0F17"/>
                </a:solidFill>
              </a:rPr>
              <a:t>Local / free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22391" y="4754880"/>
            <a:ext cx="1051560" cy="228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68111" y="4782312"/>
            <a:ext cx="96011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0F17"/>
                </a:solidFill>
              </a:rPr>
              <a:t>Streaming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59" y="4754880"/>
            <a:ext cx="1051560" cy="228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79" y="4782312"/>
            <a:ext cx="96011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0F17"/>
                </a:solidFill>
              </a:rPr>
              <a:t>GPU or CPU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64423" y="1316736"/>
            <a:ext cx="3566160" cy="3749039"/>
          </a:xfrm>
          <a:prstGeom prst="rect">
            <a:avLst/>
          </a:prstGeom>
          <a:solidFill>
            <a:srgbClr val="131928"/>
          </a:solidFill>
          <a:ln w="228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9015" y="144475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</a:rPr>
              <a:t>Deterministic
Simulator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9015" y="2029968"/>
            <a:ext cx="3236976" cy="63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29015" y="21488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Purpose:      CI · demos · benchmarks
Profiles:     llama-3b · llama-70b · gpt-4
Latency:      Physics-based queueing model
              (M/D/1 queue, tokens/sec)
Label:        All data tagged SIMULATED
Advantage:    Fully reproducible — no 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9015" y="4754880"/>
            <a:ext cx="1051560" cy="228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74736" y="4782312"/>
            <a:ext cx="96011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0F17"/>
                </a:solidFill>
              </a:rPr>
              <a:t>Always available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44584" y="4754880"/>
            <a:ext cx="1051560" cy="228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90304" y="4782312"/>
            <a:ext cx="96011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0F17"/>
                </a:solidFill>
              </a:rPr>
              <a:t>Reproducible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360151" y="4754880"/>
            <a:ext cx="1051560" cy="228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405872" y="4782312"/>
            <a:ext cx="96011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0F17"/>
                </a:solidFill>
              </a:rPr>
              <a:t>Tagged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138928"/>
            <a:ext cx="11430000" cy="1463040"/>
          </a:xfrm>
          <a:prstGeom prst="rect">
            <a:avLst/>
          </a:prstGeom>
          <a:solidFill>
            <a:srgbClr val="131928"/>
          </a:solidFill>
          <a:ln w="12700">
            <a:solidFill>
              <a:srgbClr val="1E2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5212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Routing Strategies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5961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• fixed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55961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Always use a single configured 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897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• round_robin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5897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Distribute across eligible models evenly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1996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• lowest_cost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0" y="61996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Route to cheapest eligible 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55961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• lowest_latency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55961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Route to fastest model by recent P95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5897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• quality_first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5897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Prefer highest quality-scored model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61996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• balanced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61996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Pareto-optimal blend of cost + latency + quality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Safety &amp; Policy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Hard constraints are always enforced — the LLM can suggest but never override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11430000" cy="9525"/>
          </a:xfrm>
          <a:prstGeom prst="rect">
            <a:avLst/>
          </a:prstGeom>
          <a:solidFill>
            <a:srgbClr val="1E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316736"/>
            <a:ext cx="3566160" cy="3794760"/>
          </a:xfrm>
          <a:prstGeom prst="rect">
            <a:avLst/>
          </a:prstGeom>
          <a:solidFill>
            <a:srgbClr val="131928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4632" y="14447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Max Latency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" y="1883664"/>
            <a:ext cx="3236976" cy="320040"/>
          </a:xfrm>
          <a:prstGeom prst="rect">
            <a:avLst/>
          </a:prstGeom>
          <a:solidFill>
            <a:srgbClr val="0B0F17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9202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max_latency_ms: 5000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286000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Any candidate configuration with measured
or estimated P95 latency above this threshold
is immediately eliminated from consideration.
Streaming responses track time-to-first-token
separately from total stream duration.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2231" y="1316736"/>
            <a:ext cx="3566160" cy="3794760"/>
          </a:xfrm>
          <a:prstGeom prst="rect">
            <a:avLst/>
          </a:prstGeom>
          <a:solidFill>
            <a:srgbClr val="131928"/>
          </a:solidFill>
          <a:ln w="228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06823" y="14447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</a:rPr>
              <a:t>Max Cost / Request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6823" y="1883664"/>
            <a:ext cx="3236976" cy="320040"/>
          </a:xfrm>
          <a:prstGeom prst="rect">
            <a:avLst/>
          </a:prstGeom>
          <a:solidFill>
            <a:srgbClr val="0B0F17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98264" y="19202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max_estimated_cost_per_request: 0.01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3" y="2286000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Estimated cost is computed from token usage
and up-to-date pricing tables per provider.
formula: (in_tok × in_rate + out_tok × out_rate) / 1M
Provider-reported cost is preferred; estimated
cost is used as fallback and clearly labelled.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64423" y="1316736"/>
            <a:ext cx="3566160" cy="3794760"/>
          </a:xfrm>
          <a:prstGeom prst="rect">
            <a:avLst/>
          </a:prstGeom>
          <a:solidFill>
            <a:srgbClr val="131928"/>
          </a:solidFill>
          <a:ln w="228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29015" y="14447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</a:rPr>
              <a:t>Min Quality 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9015" y="1883664"/>
            <a:ext cx="3236976" cy="320040"/>
          </a:xfrm>
          <a:prstGeom prst="rect">
            <a:avLst/>
          </a:prstGeom>
          <a:solidFill>
            <a:srgbClr val="0B0F17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0455" y="19202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min_quality_score: 0.80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9015" y="2286000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Quality Evaluator scores every sampled output
via LLM-as-judge or reference evaluation.
Any model below the threshold is blacklisted
for that workload class until re-evaluated.
Protects against silent model regressions.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257800"/>
            <a:ext cx="11430000" cy="1371600"/>
          </a:xfrm>
          <a:prstGeom prst="rect">
            <a:avLst/>
          </a:prstGeom>
          <a:solidFill>
            <a:srgbClr val="0A121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3218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Multi-Objective Pareto Optimisation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875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score = α × (1 − latency_norm) + β × (1 − cost_norm) + γ × quality_norm
where α + β + γ = 1.0   (configurable weights per workload class)
Candidates on the Pareto frontier are plotted in the Control Room scatter chart.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Control Room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Real-time observability for every inference request — http://localhost:8000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11430000" cy="9525"/>
          </a:xfrm>
          <a:prstGeom prst="rect">
            <a:avLst/>
          </a:prstGeom>
          <a:solidFill>
            <a:srgbClr val="1E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11521440" cy="438912"/>
          </a:xfrm>
          <a:prstGeom prst="rect">
            <a:avLst/>
          </a:prstGeom>
          <a:solidFill>
            <a:srgbClr val="131928"/>
          </a:solidFill>
          <a:ln w="12700">
            <a:solidFill>
              <a:srgbClr val="1E2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⬡  INFERCTRL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344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Autonomous LLM Inference Optimizer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1335024"/>
            <a:ext cx="1463040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06840" y="136245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0F17"/>
                </a:solidFill>
              </a:rPr>
              <a:t>● Optimizing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134416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Last 1 hour 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92224"/>
            <a:ext cx="2176272" cy="868680"/>
          </a:xfrm>
          <a:prstGeom prst="rect">
            <a:avLst/>
          </a:prstGeom>
          <a:solidFill>
            <a:srgbClr val="131928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" y="1847088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4D399"/>
                </a:solidFill>
              </a:rPr>
              <a:t>42.8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258568"/>
            <a:ext cx="19933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req/s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468880"/>
            <a:ext cx="199339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</a:rPr>
              <a:t>+62% vs previous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78608" y="1792224"/>
            <a:ext cx="2176272" cy="868680"/>
          </a:xfrm>
          <a:prstGeom prst="rect">
            <a:avLst/>
          </a:prstGeom>
          <a:solidFill>
            <a:srgbClr val="131928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88336" y="1847088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BDF8"/>
                </a:solidFill>
              </a:rPr>
              <a:t>612ms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8336" y="2258568"/>
            <a:ext cx="19933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P95 Lat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2468880"/>
            <a:ext cx="199339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</a:rPr>
              <a:t>−54% improvement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37175" y="1792224"/>
            <a:ext cx="2176272" cy="868680"/>
          </a:xfrm>
          <a:prstGeom prst="rect">
            <a:avLst/>
          </a:prstGeom>
          <a:solidFill>
            <a:srgbClr val="131928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46903" y="1847088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BBF24"/>
                </a:solidFill>
              </a:rPr>
              <a:t>0.93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6903" y="2258568"/>
            <a:ext cx="19933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46903" y="2468880"/>
            <a:ext cx="199339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</a:rPr>
              <a:t>+2% vs previous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95743" y="1792224"/>
            <a:ext cx="2176272" cy="868680"/>
          </a:xfrm>
          <a:prstGeom prst="rect">
            <a:avLst/>
          </a:prstGeom>
          <a:solidFill>
            <a:srgbClr val="131928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05471" y="1847088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87171"/>
                </a:solidFill>
              </a:rPr>
              <a:t>$0.012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1" y="2258568"/>
            <a:ext cx="19933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Cost/1K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5471" y="2468880"/>
            <a:ext cx="199339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</a:rPr>
              <a:t>−37% cost reduction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54311" y="1792224"/>
            <a:ext cx="2176272" cy="868680"/>
          </a:xfrm>
          <a:prstGeom prst="rect">
            <a:avLst/>
          </a:prstGeom>
          <a:solidFill>
            <a:srgbClr val="131928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64039" y="1847088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4A3B8"/>
                </a:solidFill>
              </a:rPr>
              <a:t>78%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39" y="2258568"/>
            <a:ext cx="19933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GPU Util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39" y="2468880"/>
            <a:ext cx="199339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</a:rPr>
              <a:t>4 / 4 GPUs active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816352"/>
            <a:ext cx="2697480" cy="2331720"/>
          </a:xfrm>
          <a:prstGeom prst="rect">
            <a:avLst/>
          </a:prstGeom>
          <a:solidFill>
            <a:srgbClr val="1319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8056" y="290779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📊  Live Performance Charts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" y="3328416"/>
            <a:ext cx="2441448" cy="5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8056" y="34290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Real-time req/sec, P95 latency ms,
and quality score sparklines.
Automatically annotates when
optimisation is applied.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91256" y="2816352"/>
            <a:ext cx="2697480" cy="2331720"/>
          </a:xfrm>
          <a:prstGeom prst="rect">
            <a:avLst/>
          </a:prstGeom>
          <a:solidFill>
            <a:srgbClr val="13192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19272" y="290779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🔀  Request Flow Sankey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19272" y="3328416"/>
            <a:ext cx="2441448" cy="5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19272" y="34290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Visualises traffic distribution
across providers (Chat 35%,
Code 20%, Reasoning 25%).
Updates every 5 seconds.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62472" y="2816352"/>
            <a:ext cx="2697480" cy="2331720"/>
          </a:xfrm>
          <a:prstGeom prst="rect">
            <a:avLst/>
          </a:prstGeom>
          <a:solidFill>
            <a:srgbClr val="13192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90488" y="290779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🧪  Experiment Table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0488" y="3328416"/>
            <a:ext cx="2441448" cy="5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90488" y="34290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EXP-042 through EXP-039 with
full config, latency, quality,
cost per 1K, and APPLIED /
INJECTED / REJECTED status.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33688" y="2816352"/>
            <a:ext cx="2697480" cy="2331720"/>
          </a:xfrm>
          <a:prstGeom prst="rect">
            <a:avLst/>
          </a:prstGeom>
          <a:solidFill>
            <a:srgbClr val="131928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061704" y="290779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84FC"/>
                </a:solidFill>
              </a:rPr>
              <a:t>🎯  Pareto Scatter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61704" y="3328416"/>
            <a:ext cx="2441448" cy="508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61704" y="34290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Cost vs Quality trade-off plot.
Pareto frontier highlighted.
Current config and past
experiments plotted live.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285232"/>
            <a:ext cx="11430000" cy="1417320"/>
          </a:xfrm>
          <a:prstGeom prst="rect">
            <a:avLst/>
          </a:prstGeom>
          <a:solidFill>
            <a:srgbClr val="0A12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48640" y="5349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Live URLs (run:  uvicorn apps.api.main:app --port 8000)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7424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8BDF8"/>
                </a:solidFill>
              </a:rPr>
              <a:t>Control Room:  http://localhost:8000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7679" y="57424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D399"/>
                </a:solidFill>
              </a:rPr>
              <a:t>Chatbot UI:  http://localhost:8000/chat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19" y="57424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BBF24"/>
                </a:solidFill>
              </a:rPr>
              <a:t>Pitch Deck:  http://localhost:8000/presentation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0350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REST API Docs:  http://localhost:8000/docs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97679" y="60350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Health:  http://localhost:8000/health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Canary Deployments &amp; Auto-Rollback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No configuration change goes live without passing a live traffic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11430000" cy="9525"/>
          </a:xfrm>
          <a:prstGeom prst="rect">
            <a:avLst/>
          </a:prstGeom>
          <a:solidFill>
            <a:srgbClr val="1E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316736"/>
            <a:ext cx="2697480" cy="3931920"/>
          </a:xfrm>
          <a:prstGeom prst="rect">
            <a:avLst/>
          </a:prstGeom>
          <a:solidFill>
            <a:srgbClr val="131928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48056" y="1444752"/>
            <a:ext cx="1005840" cy="274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" y="147218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0F17"/>
                </a:solidFill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" y="178308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Canary Proposal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" y="2212848"/>
            <a:ext cx="2441448" cy="63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" y="2331720"/>
            <a:ext cx="249631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Controller selects a candidate
optimisation config after Pareto
analysis ranks it as promising.
Canary rollout begins:
• 5% of live traffic routed to
  the new configuration.
• 95% stays on current baseline.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46888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316736"/>
            <a:ext cx="2697480" cy="3931920"/>
          </a:xfrm>
          <a:prstGeom prst="rect">
            <a:avLst/>
          </a:prstGeom>
          <a:solidFill>
            <a:srgbClr val="131928"/>
          </a:solidFill>
          <a:ln w="228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46704" y="1444752"/>
            <a:ext cx="1005840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92424" y="147218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0F17"/>
                </a:solidFill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6704" y="178308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Watchdog Monitoring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6704" y="2212848"/>
            <a:ext cx="2441448" cy="63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46704" y="2331720"/>
            <a:ext cx="249631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Watchdog agent monitors canary
traffic for 60 – 300 seconds:
• P95 latency vs baseline
• Error rate vs baseline
• Quality score vs threshold
All comparisons use actual
measured data (not estimates).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34456" y="246888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17336" y="1316736"/>
            <a:ext cx="2697480" cy="3931920"/>
          </a:xfrm>
          <a:prstGeom prst="rect">
            <a:avLst/>
          </a:prstGeom>
          <a:solidFill>
            <a:srgbClr val="131928"/>
          </a:solidFill>
          <a:ln w="228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45352" y="1444752"/>
            <a:ext cx="1005840" cy="274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91072" y="147218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0F17"/>
                </a:solidFill>
              </a:rPr>
              <a:t>STEP 3A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178308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Global Apply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2212848"/>
            <a:ext cx="2441448" cy="63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45352" y="2331720"/>
            <a:ext cx="249631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If ALL watchdog checks pass:
• Traffic split → 100% new config
• Baseline archived
• Experiment marked APPLIED
• Metrics snapshot stored
System continues searching for
the next improvement cycle.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34456" y="246888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✓ PASS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1316736"/>
            <a:ext cx="2697480" cy="3931920"/>
          </a:xfrm>
          <a:prstGeom prst="rect">
            <a:avLst/>
          </a:prstGeom>
          <a:solidFill>
            <a:srgbClr val="131928"/>
          </a:solidFill>
          <a:ln w="228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0" y="1444752"/>
            <a:ext cx="1005840" cy="274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89720" y="147218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0F17"/>
                </a:solidFill>
              </a:rPr>
              <a:t>STEP 3B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178308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</a:rPr>
              <a:t>Auto-Rollback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2212848"/>
            <a:ext cx="2441448" cy="63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0" y="2331720"/>
            <a:ext cx="249631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If ANY watchdog check fails:
• Traffic snaps back to baseline
• Rollback completes &lt; 350 ms
• Candidate marked REJECTED
• Failure reason logged
System learns and avoids similar
configs in future experiments.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394960"/>
            <a:ext cx="11430000" cy="1261872"/>
          </a:xfrm>
          <a:prstGeom prst="rect">
            <a:avLst/>
          </a:prstGeom>
          <a:solidFill>
            <a:srgbClr val="0E101A"/>
          </a:solidFill>
          <a:ln w="12700">
            <a:solidFill>
              <a:srgbClr val="1E2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54589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Timing Reference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338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8BDF8"/>
                </a:solidFill>
              </a:rPr>
              <a:t>0 – 10 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1813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Canary ramp-up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79776" y="58338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BBF24"/>
                </a:solidFill>
              </a:rPr>
              <a:t>10 – 300 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79776" y="61813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Watchdog window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10912" y="58338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4D399"/>
                </a:solidFill>
              </a:rPr>
              <a:t>&lt; 1 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10912" y="61813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Decision + apply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42048" y="58338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87171"/>
                </a:solidFill>
              </a:rPr>
              <a:t>&lt; 350 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42048" y="61813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Rollback 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73184" y="58338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4A3B8"/>
                </a:solidFill>
              </a:rPr>
              <a:t>5 – 10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3184" y="61813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Full cycle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Measured Results &amp;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Simulated benchmark over 10,000 synthetic requests — all data tagged as SIMULATED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11430000" cy="9525"/>
          </a:xfrm>
          <a:prstGeom prst="rect">
            <a:avLst/>
          </a:prstGeom>
          <a:solidFill>
            <a:srgbClr val="1E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2697480" cy="1691640"/>
          </a:xfrm>
          <a:prstGeom prst="rect">
            <a:avLst/>
          </a:prstGeom>
          <a:solidFill>
            <a:srgbClr val="131928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8BDF8"/>
                </a:solidFill>
              </a:rPr>
              <a:t>-54%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2423160" cy="63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21284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P95 Latency 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4203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1,328 ms → 612 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1298448"/>
            <a:ext cx="2697480" cy="1691640"/>
          </a:xfrm>
          <a:prstGeom prst="rect">
            <a:avLst/>
          </a:prstGeom>
          <a:solidFill>
            <a:srgbClr val="131928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55848" y="1389888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4D399"/>
                </a:solidFill>
              </a:rPr>
              <a:t>-37%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2148840"/>
            <a:ext cx="2423160" cy="63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55848" y="221284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Cost / 1K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54203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$0.019 → $0.012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17336" y="1298448"/>
            <a:ext cx="2697480" cy="1691640"/>
          </a:xfrm>
          <a:prstGeom prst="rect">
            <a:avLst/>
          </a:prstGeom>
          <a:solidFill>
            <a:srgbClr val="131928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54496" y="1389888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BBF24"/>
                </a:solidFill>
              </a:rPr>
              <a:t>+28%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2148840"/>
            <a:ext cx="2423160" cy="63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54496" y="221284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Throughput Increase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254203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33 → 42.8 req/sec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1298448"/>
            <a:ext cx="2697480" cy="1691640"/>
          </a:xfrm>
          <a:prstGeom prst="rect">
            <a:avLst/>
          </a:prstGeom>
          <a:solidFill>
            <a:srgbClr val="131928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53144" y="1389888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87171"/>
                </a:solidFill>
              </a:rPr>
              <a:t>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53144" y="2148840"/>
            <a:ext cx="2423160" cy="63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53144" y="221284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Quality Regressions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4" y="254203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93% quality score maintained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145536"/>
            <a:ext cx="11430000" cy="1828800"/>
          </a:xfrm>
          <a:prstGeom prst="rect">
            <a:avLst/>
          </a:prstGeom>
          <a:solidFill>
            <a:srgbClr val="131928"/>
          </a:solidFill>
          <a:ln w="12700">
            <a:solidFill>
              <a:srgbClr val="1E2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3200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Recent Benchmark Experiments  (simulated)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547872"/>
            <a:ext cx="11247120" cy="9525"/>
          </a:xfrm>
          <a:prstGeom prst="rect">
            <a:avLst/>
          </a:prstGeom>
          <a:solidFill>
            <a:srgbClr val="1E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327355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327355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327355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Batch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32735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Concurrency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32735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P95 Latency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32735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Quality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27355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Cost/1K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32735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361188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EXP-042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361188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cost-optimised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3160" y="36118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36118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3611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612 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3611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0.93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36118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$0.012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4D399"/>
                </a:solidFill>
              </a:rPr>
              <a:t>✔ APPLIED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393192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EXP-041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" y="39319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quality-first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39319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39319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43400" y="3931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1,240 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0" y="3931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0.96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39319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$0.018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BBF24"/>
                </a:solidFill>
              </a:rPr>
              <a:t>◉ INJECTED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42519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EXP-040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" y="42519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high-throughput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23160" y="4251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32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91840" y="4251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16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43400" y="4251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480 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4251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0.89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37960" y="425196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$0.015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BBF24"/>
                </a:solidFill>
              </a:rPr>
              <a:t>◉ INJECTED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457200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EXP-039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3000" y="45720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low-latency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23160" y="45720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91840" y="4572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43400" y="45720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390 ms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77840" y="4572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0.87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37960" y="457200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$0.018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3524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BBF24"/>
                </a:solidFill>
              </a:rPr>
              <a:t>◉ INJECTED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5074920"/>
            <a:ext cx="11430000" cy="1600200"/>
          </a:xfrm>
          <a:prstGeom prst="rect">
            <a:avLst/>
          </a:prstGeom>
          <a:solidFill>
            <a:srgbClr val="0E1E0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48640" y="51389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Projected ROI (illustrative, USD)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55595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4D399"/>
                </a:solidFill>
              </a:rPr>
              <a:t>• API cost reduction:  $14,500/mo  saved at 10M req/mo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17920" y="55595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8BDF8"/>
                </a:solidFill>
              </a:rPr>
              <a:t>• Latency improvement:  54% lower P95 → measurable UX gain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590702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BBF24"/>
                </a:solidFill>
              </a:rPr>
              <a:t>• Engineering overhead:  Autonomous loop replaces manual tuning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17920" y="590702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Quality protection:  0% regressions in 30-day rolling window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 Stack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Production-ready architecture built on battle-tested open 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11430000" cy="9525"/>
          </a:xfrm>
          <a:prstGeom prst="rect">
            <a:avLst/>
          </a:prstGeom>
          <a:solidFill>
            <a:srgbClr val="1E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3566160" cy="1691640"/>
          </a:xfrm>
          <a:prstGeom prst="rect">
            <a:avLst/>
          </a:prstGeom>
          <a:solidFill>
            <a:srgbClr val="1319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8056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" y="17373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FastAPI 0.115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" y="201167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Python 3.12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22860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Pydantic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25603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Uvicorn / ASGI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2073" y="1280160"/>
            <a:ext cx="3566160" cy="1691640"/>
          </a:xfrm>
          <a:prstGeom prst="rect">
            <a:avLst/>
          </a:prstGeom>
          <a:solidFill>
            <a:srgbClr val="13192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60089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AI / Providers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0089" y="17373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google-genai 2.34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0089" y="201167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Ollama 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0089" y="22860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Simulator (built-in)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0089" y="25603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OpenAI SDK compat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44107" y="1280160"/>
            <a:ext cx="3566160" cy="1691640"/>
          </a:xfrm>
          <a:prstGeom prst="rect">
            <a:avLst/>
          </a:prstGeom>
          <a:solidFill>
            <a:srgbClr val="13192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2123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Optimisation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2123" y="17373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Optuna (HPO)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2123" y="201167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NumPy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2123" y="22860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M/D/1 queue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2123" y="25603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Pareto frontier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154679"/>
            <a:ext cx="3566160" cy="1691640"/>
          </a:xfrm>
          <a:prstGeom prst="rect">
            <a:avLst/>
          </a:prstGeom>
          <a:solidFill>
            <a:srgbClr val="131928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056" y="3246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84FC"/>
                </a:solidFill>
              </a:rPr>
              <a:t>Observability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" y="361187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Request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" y="38862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Token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" y="41605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Cost accounting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" y="44348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Quality eval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2073" y="3154679"/>
            <a:ext cx="3566160" cy="1691640"/>
          </a:xfrm>
          <a:prstGeom prst="rect">
            <a:avLst/>
          </a:prstGeom>
          <a:solidFill>
            <a:srgbClr val="131928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60089" y="3246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Testing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60089" y="361187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Pytest 30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60089" y="38862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Unit +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60089" y="41605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FastAPI TestClient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60089" y="44348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100% pass rate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44107" y="3154679"/>
            <a:ext cx="3566160" cy="1691640"/>
          </a:xfrm>
          <a:prstGeom prst="rect">
            <a:avLst/>
          </a:prstGeom>
          <a:solidFill>
            <a:srgbClr val="131928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72123" y="3246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</a:rPr>
              <a:t>Frontend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2123" y="361187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Vanilla HTML/JS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2123" y="38862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Chart.js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2123" y="41605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Tailwind CSS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2123" y="44348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No build step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956048"/>
            <a:ext cx="11430000" cy="777240"/>
          </a:xfrm>
          <a:prstGeom prst="rect">
            <a:avLst/>
          </a:prstGeom>
          <a:solidFill>
            <a:srgbClr val="131928"/>
          </a:solidFill>
          <a:ln w="12700">
            <a:solidFill>
              <a:srgbClr val="1E2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50109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32180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v1 (done)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7048" y="5321808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Gateway · Routing · Policy · Canary · Dashboard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39" y="532180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v2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15968" y="5321808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Prometheus export · Grafana dashboards · Alerting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59" y="532180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v3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04888" y="5321808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Multi-tenant · SDK · vLLM / TGI adapters · real GPU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0" y="532180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v4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93808" y="5321808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SaaS control plane · Team analytics · Cost budgets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5852160"/>
            <a:ext cx="11430000" cy="822960"/>
          </a:xfrm>
          <a:prstGeom prst="rect">
            <a:avLst/>
          </a:prstGeom>
          <a:solidFill>
            <a:srgbClr val="051025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48640" y="594360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</a:rPr>
              <a:t>🚀   INFERCTRL  —  Run it now:   uvicorn apps.api.main:app --port 8000   then open  http://localhost:8000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</a:rPr>
              <a:t>Live: Control Room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http://localhost:8000  —  real-time request metrics, routing decisions, experiment 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283464" y="923544"/>
            <a:ext cx="11594592" cy="5742432"/>
          </a:xfrm>
          <a:prstGeom prst="rect">
            <a:avLst/>
          </a:prstGeom>
          <a:solidFill>
            <a:srgbClr val="1319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trol_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11521440" cy="5669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040" y="6565392"/>
            <a:ext cx="2926080" cy="219456"/>
          </a:xfrm>
          <a:prstGeom prst="rect">
            <a:avLst/>
          </a:prstGeom>
          <a:solidFill>
            <a:srgbClr val="13192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BDF8"/>
                </a:solidFill>
              </a:rPr>
              <a:t>http://localhost:8000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4D399"/>
                </a:solidFill>
              </a:rPr>
              <a:t>Live: Interactive Chatbot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http://localhost:8000/chat  —  OpenAI-compatible gateway driving the chat UI in real-time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283464" y="923544"/>
            <a:ext cx="11594592" cy="5742432"/>
          </a:xfrm>
          <a:prstGeom prst="rect">
            <a:avLst/>
          </a:prstGeom>
          <a:solidFill>
            <a:srgbClr val="1319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t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11521440" cy="5669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040" y="6565392"/>
            <a:ext cx="3291840" cy="219456"/>
          </a:xfrm>
          <a:prstGeom prst="rect">
            <a:avLst/>
          </a:prstGeom>
          <a:solidFill>
            <a:srgbClr val="13192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</a:rPr>
              <a:t>http://localhost:8000/chat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BBF24"/>
                </a:solidFill>
              </a:rPr>
              <a:t>Live: FastAPI Auto-Generated REST API Docs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http://localhost:8000/docs  —  interactive Swagger UI showing all gateway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83464" y="923544"/>
            <a:ext cx="11594592" cy="5742432"/>
          </a:xfrm>
          <a:prstGeom prst="rect">
            <a:avLst/>
          </a:prstGeom>
          <a:solidFill>
            <a:srgbClr val="1319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11521440" cy="5669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040" y="6565392"/>
            <a:ext cx="3291840" cy="219456"/>
          </a:xfrm>
          <a:prstGeom prst="rect">
            <a:avLst/>
          </a:prstGeom>
          <a:solidFill>
            <a:srgbClr val="13192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BBF24"/>
                </a:solidFill>
              </a:rPr>
              <a:t>http://localhost:8000/docs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Live: Provider Health &amp; Models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Raw JSON responses from GET /health and GET /v1/models — providers auto-detected at startup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283464" y="923544"/>
            <a:ext cx="5696712" cy="3273552"/>
          </a:xfrm>
          <a:prstGeom prst="rect">
            <a:avLst/>
          </a:prstGeom>
          <a:solidFill>
            <a:srgbClr val="1319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ealth_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562356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99632" y="923544"/>
            <a:ext cx="5696712" cy="3273552"/>
          </a:xfrm>
          <a:prstGeom prst="rect">
            <a:avLst/>
          </a:prstGeom>
          <a:solidFill>
            <a:srgbClr val="1319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dels_a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960120"/>
            <a:ext cx="5623560" cy="3200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4251960"/>
            <a:ext cx="5623560" cy="320040"/>
          </a:xfrm>
          <a:prstGeom prst="rect">
            <a:avLst/>
          </a:prstGeom>
          <a:solidFill>
            <a:srgbClr val="13192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7939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8BDF8"/>
                </a:solidFill>
              </a:rPr>
              <a:t>GET /health  —  provider availability 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4251960"/>
            <a:ext cx="5623560" cy="320040"/>
          </a:xfrm>
          <a:prstGeom prst="rect">
            <a:avLst/>
          </a:prstGeom>
          <a:solidFill>
            <a:srgbClr val="13192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427939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D399"/>
                </a:solidFill>
              </a:rPr>
              <a:t>GET /v1/models  —  registered models + metadata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663440"/>
            <a:ext cx="11539728" cy="2057400"/>
          </a:xfrm>
          <a:prstGeom prst="rect">
            <a:avLst/>
          </a:prstGeom>
          <a:solidFill>
            <a:srgbClr val="131928"/>
          </a:solidFill>
          <a:ln w="12700">
            <a:solidFill>
              <a:srgbClr val="1E2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Provider Auto-Detection: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477316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On startup, INFERCTRL pings every configured backend.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1206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Gemini Adapter: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51206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Checks for GEMINI_API_KEY env var — marks ONLINE or UNAVAILABLE.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46811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Ollama Adapter: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546811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Connects to localhost:11434/api/tags — marks ONLINE or UNAVAILABLE.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815583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Simulator: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4912" y="5815583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Always ONLINE — fully deterministic, requires no external services.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16305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Models Endpoint: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24912" y="616305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Returns all registered models with provider, capabilities, pricing.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84FC"/>
                </a:solidFill>
              </a:rPr>
              <a:t>In-Browser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http://localhost:8000/presentation  —  zero-dependency HTML slide deck served by the same FastAPI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283464" y="923544"/>
            <a:ext cx="11594592" cy="5742432"/>
          </a:xfrm>
          <a:prstGeom prst="rect">
            <a:avLst/>
          </a:prstGeom>
          <a:solidFill>
            <a:srgbClr val="1319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11521440" cy="5669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040" y="6565392"/>
            <a:ext cx="4114800" cy="219456"/>
          </a:xfrm>
          <a:prstGeom prst="rect">
            <a:avLst/>
          </a:prstGeom>
          <a:solidFill>
            <a:srgbClr val="131928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84FC"/>
                </a:solidFill>
              </a:rPr>
              <a:t>http://localhost:8000/presentation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1981</Words>
  <Application>Microsoft Office PowerPoint</Application>
  <PresentationFormat>Custom</PresentationFormat>
  <Paragraphs>275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SAKSHAM CHHABRA</cp:lastModifiedBy>
  <cp:revision>1</cp:revision>
  <dcterms:created xsi:type="dcterms:W3CDTF">2013-01-27T09:14:16Z</dcterms:created>
  <dcterms:modified xsi:type="dcterms:W3CDTF">2026-10-29T12:06:30Z</dcterms:modified>
  <cp:category/>
</cp:coreProperties>
</file>